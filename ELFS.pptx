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7"/>
  </p:notesMasterIdLst>
  <p:sldIdLst>
    <p:sldId id="262" r:id="rId2"/>
    <p:sldId id="288" r:id="rId3"/>
    <p:sldId id="265" r:id="rId4"/>
    <p:sldId id="275" r:id="rId5"/>
    <p:sldId id="285" r:id="rId6"/>
    <p:sldId id="263" r:id="rId7"/>
    <p:sldId id="273" r:id="rId8"/>
    <p:sldId id="274" r:id="rId9"/>
    <p:sldId id="279" r:id="rId10"/>
    <p:sldId id="281" r:id="rId11"/>
    <p:sldId id="286" r:id="rId12"/>
    <p:sldId id="280" r:id="rId13"/>
    <p:sldId id="277" r:id="rId14"/>
    <p:sldId id="269" r:id="rId15"/>
    <p:sldId id="272"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31" autoAdjust="0"/>
    <p:restoredTop sz="84162" autoAdjust="0"/>
  </p:normalViewPr>
  <p:slideViewPr>
    <p:cSldViewPr snapToGrid="0">
      <p:cViewPr varScale="1">
        <p:scale>
          <a:sx n="58" d="100"/>
          <a:sy n="58" d="100"/>
        </p:scale>
        <p:origin x="956"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43334B-B0E4-4E3D-88C7-0C30A08A2E06}" type="datetimeFigureOut">
              <a:rPr lang="en-US" smtClean="0"/>
              <a:t>6/9/2025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3EF44F-6599-47B9-9D83-762612BD1DF9}" type="slidenum">
              <a:rPr lang="en-US" smtClean="0"/>
              <a:t>‹#›</a:t>
            </a:fld>
            <a:endParaRPr lang="en-US"/>
          </a:p>
        </p:txBody>
      </p:sp>
    </p:spTree>
    <p:extLst>
      <p:ext uri="{BB962C8B-B14F-4D97-AF65-F5344CB8AC3E}">
        <p14:creationId xmlns:p14="http://schemas.microsoft.com/office/powerpoint/2010/main" val="2841822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A3EF44F-6599-47B9-9D83-762612BD1DF9}" type="slidenum">
              <a:rPr lang="en-US" smtClean="0"/>
              <a:t>9</a:t>
            </a:fld>
            <a:endParaRPr lang="en-US"/>
          </a:p>
        </p:txBody>
      </p:sp>
    </p:spTree>
    <p:extLst>
      <p:ext uri="{BB962C8B-B14F-4D97-AF65-F5344CB8AC3E}">
        <p14:creationId xmlns:p14="http://schemas.microsoft.com/office/powerpoint/2010/main" val="30113574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6/9/2025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6/9/2025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710312" y="345659"/>
            <a:ext cx="1224136" cy="1116414"/>
          </a:xfrm>
          <a:prstGeom prst="rect">
            <a:avLst/>
          </a:prstGeom>
        </p:spPr>
      </p:pic>
      <p:sp>
        <p:nvSpPr>
          <p:cNvPr id="3" name="TextBox 2"/>
          <p:cNvSpPr txBox="1"/>
          <p:nvPr/>
        </p:nvSpPr>
        <p:spPr>
          <a:xfrm>
            <a:off x="3214256" y="1644075"/>
            <a:ext cx="6742545"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AJEENKYA D.Y.PATIL SCHOOL OF ENGINEERING, PUNE</a:t>
            </a:r>
          </a:p>
          <a:p>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740727" y="2186187"/>
            <a:ext cx="5440218"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DEPARTMENT OF COMPUTER ENGINEERING</a:t>
            </a:r>
          </a:p>
          <a:p>
            <a:endParaRPr lang="en-US" dirty="0">
              <a:latin typeface="Times New Roman" panose="02020603050405020304" pitchFamily="18" charset="0"/>
              <a:cs typeface="Times New Roman" panose="02020603050405020304" pitchFamily="18" charset="0"/>
            </a:endParaRPr>
          </a:p>
        </p:txBody>
      </p:sp>
      <p:sp>
        <p:nvSpPr>
          <p:cNvPr id="6" name="TextBox 5"/>
          <p:cNvSpPr txBox="1"/>
          <p:nvPr/>
        </p:nvSpPr>
        <p:spPr>
          <a:xfrm>
            <a:off x="2129429" y="4581237"/>
            <a:ext cx="2733963" cy="1754326"/>
          </a:xfrm>
          <a:prstGeom prst="rect">
            <a:avLst/>
          </a:prstGeom>
          <a:noFill/>
        </p:spPr>
        <p:txBody>
          <a:bodyPr wrap="square" rtlCol="0">
            <a:spAutoFit/>
          </a:bodyPr>
          <a:lstStyle/>
          <a:p>
            <a:r>
              <a:rPr lang="en-US" b="1" dirty="0">
                <a:solidFill>
                  <a:schemeClr val="tx1">
                    <a:lumMod val="95000"/>
                    <a:lumOff val="5000"/>
                  </a:schemeClr>
                </a:solidFill>
                <a:latin typeface="Times New Roman" panose="02020603050405020304" pitchFamily="18" charset="0"/>
                <a:cs typeface="Times New Roman" panose="02020603050405020304" pitchFamily="18" charset="0"/>
              </a:rPr>
              <a:t>PRESENTED BY</a:t>
            </a:r>
            <a:r>
              <a:rPr lang="en-US" b="1" dirty="0" smtClean="0">
                <a:solidFill>
                  <a:schemeClr val="tx1">
                    <a:lumMod val="95000"/>
                    <a:lumOff val="5000"/>
                  </a:schemeClr>
                </a:solidFill>
                <a:latin typeface="Times New Roman" panose="02020603050405020304" pitchFamily="18" charset="0"/>
                <a:cs typeface="Times New Roman" panose="02020603050405020304" pitchFamily="18" charset="0"/>
              </a:rPr>
              <a:t>:</a:t>
            </a:r>
          </a:p>
          <a:p>
            <a:r>
              <a:rPr lang="en-US" b="1" dirty="0" err="1" smtClean="0">
                <a:solidFill>
                  <a:schemeClr val="tx1">
                    <a:lumMod val="95000"/>
                    <a:lumOff val="5000"/>
                  </a:schemeClr>
                </a:solidFill>
                <a:latin typeface="Times New Roman" panose="02020603050405020304" pitchFamily="18" charset="0"/>
                <a:cs typeface="Times New Roman" panose="02020603050405020304" pitchFamily="18" charset="0"/>
              </a:rPr>
              <a:t>Shruti</a:t>
            </a:r>
            <a:r>
              <a:rPr lang="en-US" b="1" dirty="0" smtClean="0">
                <a:solidFill>
                  <a:schemeClr val="tx1">
                    <a:lumMod val="95000"/>
                    <a:lumOff val="5000"/>
                  </a:schemeClr>
                </a:solidFill>
                <a:latin typeface="Times New Roman" panose="02020603050405020304" pitchFamily="18" charset="0"/>
                <a:cs typeface="Times New Roman" panose="02020603050405020304" pitchFamily="18" charset="0"/>
              </a:rPr>
              <a:t> </a:t>
            </a:r>
            <a:r>
              <a:rPr lang="en-US" b="1" dirty="0" err="1" smtClean="0">
                <a:solidFill>
                  <a:schemeClr val="tx1">
                    <a:lumMod val="95000"/>
                    <a:lumOff val="5000"/>
                  </a:schemeClr>
                </a:solidFill>
                <a:latin typeface="Times New Roman" panose="02020603050405020304" pitchFamily="18" charset="0"/>
                <a:cs typeface="Times New Roman" panose="02020603050405020304" pitchFamily="18" charset="0"/>
              </a:rPr>
              <a:t>Nikam</a:t>
            </a:r>
            <a:endParaRPr lang="en-US" b="1" dirty="0" smtClean="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b="1" dirty="0" err="1" smtClean="0">
                <a:solidFill>
                  <a:schemeClr val="tx1">
                    <a:lumMod val="95000"/>
                    <a:lumOff val="5000"/>
                  </a:schemeClr>
                </a:solidFill>
                <a:latin typeface="Times New Roman" panose="02020603050405020304" pitchFamily="18" charset="0"/>
                <a:cs typeface="Times New Roman" panose="02020603050405020304" pitchFamily="18" charset="0"/>
              </a:rPr>
              <a:t>Advait</a:t>
            </a:r>
            <a:r>
              <a:rPr lang="en-US" b="1" dirty="0" smtClean="0">
                <a:solidFill>
                  <a:schemeClr val="tx1">
                    <a:lumMod val="95000"/>
                    <a:lumOff val="5000"/>
                  </a:schemeClr>
                </a:solidFill>
                <a:latin typeface="Times New Roman" panose="02020603050405020304" pitchFamily="18" charset="0"/>
                <a:cs typeface="Times New Roman" panose="02020603050405020304" pitchFamily="18" charset="0"/>
              </a:rPr>
              <a:t> </a:t>
            </a:r>
            <a:r>
              <a:rPr lang="en-US" b="1" dirty="0" err="1" smtClean="0">
                <a:solidFill>
                  <a:schemeClr val="tx1">
                    <a:lumMod val="95000"/>
                    <a:lumOff val="5000"/>
                  </a:schemeClr>
                </a:solidFill>
                <a:latin typeface="Times New Roman" panose="02020603050405020304" pitchFamily="18" charset="0"/>
                <a:cs typeface="Times New Roman" panose="02020603050405020304" pitchFamily="18" charset="0"/>
              </a:rPr>
              <a:t>Pandharpurkar</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b="1" dirty="0" err="1" smtClean="0">
                <a:solidFill>
                  <a:schemeClr val="tx1">
                    <a:lumMod val="95000"/>
                    <a:lumOff val="5000"/>
                  </a:schemeClr>
                </a:solidFill>
                <a:latin typeface="Times New Roman" panose="02020603050405020304" pitchFamily="18" charset="0"/>
                <a:cs typeface="Times New Roman" panose="02020603050405020304" pitchFamily="18" charset="0"/>
              </a:rPr>
              <a:t>Komal</a:t>
            </a:r>
            <a:r>
              <a:rPr lang="en-US" b="1" dirty="0" smtClean="0">
                <a:solidFill>
                  <a:schemeClr val="tx1">
                    <a:lumMod val="95000"/>
                    <a:lumOff val="5000"/>
                  </a:schemeClr>
                </a:solidFill>
                <a:latin typeface="Times New Roman" panose="02020603050405020304" pitchFamily="18" charset="0"/>
                <a:cs typeface="Times New Roman" panose="02020603050405020304" pitchFamily="18" charset="0"/>
              </a:rPr>
              <a:t> </a:t>
            </a:r>
            <a:r>
              <a:rPr lang="en-US" b="1" dirty="0" err="1" smtClean="0">
                <a:solidFill>
                  <a:schemeClr val="tx1">
                    <a:lumMod val="95000"/>
                    <a:lumOff val="5000"/>
                  </a:schemeClr>
                </a:solidFill>
                <a:latin typeface="Times New Roman" panose="02020603050405020304" pitchFamily="18" charset="0"/>
                <a:cs typeface="Times New Roman" panose="02020603050405020304" pitchFamily="18" charset="0"/>
              </a:rPr>
              <a:t>Patil</a:t>
            </a:r>
            <a:endParaRPr lang="en-US" b="1" dirty="0" smtClean="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b="1" dirty="0" err="1" smtClean="0">
                <a:solidFill>
                  <a:schemeClr val="tx1">
                    <a:lumMod val="95000"/>
                    <a:lumOff val="5000"/>
                  </a:schemeClr>
                </a:solidFill>
                <a:latin typeface="Times New Roman" panose="02020603050405020304" pitchFamily="18" charset="0"/>
                <a:cs typeface="Times New Roman" panose="02020603050405020304" pitchFamily="18" charset="0"/>
              </a:rPr>
              <a:t>Atharva</a:t>
            </a:r>
            <a:r>
              <a:rPr lang="en-US" b="1" dirty="0" smtClean="0">
                <a:solidFill>
                  <a:schemeClr val="tx1">
                    <a:lumMod val="95000"/>
                    <a:lumOff val="5000"/>
                  </a:schemeClr>
                </a:solidFill>
                <a:latin typeface="Times New Roman" panose="02020603050405020304" pitchFamily="18" charset="0"/>
                <a:cs typeface="Times New Roman" panose="02020603050405020304" pitchFamily="18" charset="0"/>
              </a:rPr>
              <a:t> </a:t>
            </a:r>
            <a:r>
              <a:rPr lang="en-US" b="1" dirty="0" err="1" smtClean="0">
                <a:solidFill>
                  <a:schemeClr val="tx1">
                    <a:lumMod val="95000"/>
                    <a:lumOff val="5000"/>
                  </a:schemeClr>
                </a:solidFill>
                <a:latin typeface="Times New Roman" panose="02020603050405020304" pitchFamily="18" charset="0"/>
                <a:cs typeface="Times New Roman" panose="02020603050405020304" pitchFamily="18" charset="0"/>
              </a:rPr>
              <a:t>Waghchoure</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7" name="TextBox 6"/>
          <p:cNvSpPr txBox="1"/>
          <p:nvPr/>
        </p:nvSpPr>
        <p:spPr>
          <a:xfrm>
            <a:off x="7484583" y="4581237"/>
            <a:ext cx="3392724" cy="923330"/>
          </a:xfrm>
          <a:prstGeom prst="rect">
            <a:avLst/>
          </a:prstGeom>
          <a:noFill/>
        </p:spPr>
        <p:txBody>
          <a:bodyPr wrap="square" rtlCol="0">
            <a:spAutoFit/>
          </a:bodyPr>
          <a:lstStyle/>
          <a:p>
            <a:r>
              <a:rPr lang="en-US" b="1" dirty="0">
                <a:solidFill>
                  <a:schemeClr val="tx1">
                    <a:lumMod val="95000"/>
                    <a:lumOff val="5000"/>
                  </a:schemeClr>
                </a:solidFill>
                <a:latin typeface="Times New Roman" panose="02020603050405020304" pitchFamily="18" charset="0"/>
                <a:cs typeface="Times New Roman" panose="02020603050405020304" pitchFamily="18" charset="0"/>
              </a:rPr>
              <a:t>UNDER THE GUIDANCE OF:</a:t>
            </a:r>
          </a:p>
          <a:p>
            <a:r>
              <a:rPr lang="en-US" b="1" dirty="0">
                <a:solidFill>
                  <a:schemeClr val="tx1">
                    <a:lumMod val="95000"/>
                    <a:lumOff val="5000"/>
                  </a:schemeClr>
                </a:solidFill>
                <a:latin typeface="Times New Roman" panose="02020603050405020304" pitchFamily="18" charset="0"/>
                <a:cs typeface="Times New Roman" panose="02020603050405020304" pitchFamily="18" charset="0"/>
              </a:rPr>
              <a:t>Prof. </a:t>
            </a:r>
            <a:r>
              <a:rPr lang="en-US" b="1" dirty="0" err="1" smtClean="0">
                <a:latin typeface="Times New Roman" panose="02020603050405020304" pitchFamily="18" charset="0"/>
                <a:cs typeface="Times New Roman" panose="02020603050405020304" pitchFamily="18" charset="0"/>
              </a:rPr>
              <a:t>Amruta</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Chitari</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8" name="TextBox 7"/>
          <p:cNvSpPr txBox="1"/>
          <p:nvPr/>
        </p:nvSpPr>
        <p:spPr>
          <a:xfrm>
            <a:off x="3214255" y="3229684"/>
            <a:ext cx="6206835" cy="52322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  ELFS- Efficient Lossless File System</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55535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6829" y="668177"/>
            <a:ext cx="8911687" cy="1280890"/>
          </a:xfrm>
        </p:spPr>
        <p:txBody>
          <a:bodyPr/>
          <a:lstStyle/>
          <a:p>
            <a:r>
              <a:rPr lang="en-US" b="1" dirty="0" smtClean="0">
                <a:latin typeface="Times New Roman" panose="02020603050405020304" pitchFamily="18" charset="0"/>
                <a:cs typeface="Times New Roman" panose="02020603050405020304" pitchFamily="18" charset="0"/>
              </a:rPr>
              <a:t>INDEX</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795749" y="1762699"/>
            <a:ext cx="9708863" cy="4935556"/>
          </a:xfrm>
        </p:spPr>
        <p:txBody>
          <a:bodyPr>
            <a:normAutofit/>
          </a:bodyPr>
          <a:lstStyle/>
          <a:p>
            <a:r>
              <a:rPr lang="en-US" sz="2400" dirty="0" smtClean="0">
                <a:latin typeface="Times New Roman" panose="02020603050405020304" pitchFamily="18" charset="0"/>
                <a:cs typeface="Times New Roman" panose="02020603050405020304" pitchFamily="18" charset="0"/>
              </a:rPr>
              <a:t>INTRODUCTION</a:t>
            </a:r>
          </a:p>
          <a:p>
            <a:r>
              <a:rPr lang="en-US" sz="2400" dirty="0" smtClean="0">
                <a:latin typeface="Times New Roman" panose="02020603050405020304" pitchFamily="18" charset="0"/>
                <a:cs typeface="Times New Roman" panose="02020603050405020304" pitchFamily="18" charset="0"/>
              </a:rPr>
              <a:t>LITERATURE SURVEY</a:t>
            </a:r>
          </a:p>
          <a:p>
            <a:r>
              <a:rPr lang="en-US" sz="2400" dirty="0" smtClean="0">
                <a:latin typeface="Times New Roman" panose="02020603050405020304" pitchFamily="18" charset="0"/>
                <a:cs typeface="Times New Roman" panose="02020603050405020304" pitchFamily="18" charset="0"/>
              </a:rPr>
              <a:t>PROBLEM STATEMENT</a:t>
            </a:r>
          </a:p>
          <a:p>
            <a:r>
              <a:rPr lang="en-US" sz="2400" dirty="0" smtClean="0">
                <a:latin typeface="Times New Roman" panose="02020603050405020304" pitchFamily="18" charset="0"/>
                <a:cs typeface="Times New Roman" panose="02020603050405020304" pitchFamily="18" charset="0"/>
              </a:rPr>
              <a:t>MOTIVATION &amp; OBJECTIVE</a:t>
            </a:r>
          </a:p>
          <a:p>
            <a:r>
              <a:rPr lang="en-US" sz="2400" dirty="0" smtClean="0">
                <a:latin typeface="Times New Roman" panose="02020603050405020304" pitchFamily="18" charset="0"/>
                <a:cs typeface="Times New Roman" panose="02020603050405020304" pitchFamily="18" charset="0"/>
              </a:rPr>
              <a:t>SYSTEM ARCHITECTURE</a:t>
            </a:r>
          </a:p>
          <a:p>
            <a:r>
              <a:rPr lang="en-US" sz="2400" dirty="0" smtClean="0">
                <a:latin typeface="Times New Roman" panose="02020603050405020304" pitchFamily="18" charset="0"/>
                <a:cs typeface="Times New Roman" panose="02020603050405020304" pitchFamily="18" charset="0"/>
              </a:rPr>
              <a:t>MATHEMATICAL MODULE(GRAPH)</a:t>
            </a:r>
          </a:p>
          <a:p>
            <a:r>
              <a:rPr lang="en-US" sz="2400" dirty="0" smtClean="0">
                <a:latin typeface="Times New Roman" panose="02020603050405020304" pitchFamily="18" charset="0"/>
                <a:cs typeface="Times New Roman" panose="02020603050405020304" pitchFamily="18" charset="0"/>
              </a:rPr>
              <a:t>OUTPUT</a:t>
            </a:r>
          </a:p>
          <a:p>
            <a:r>
              <a:rPr lang="en-US" sz="2400" dirty="0" smtClean="0">
                <a:latin typeface="Times New Roman" panose="02020603050405020304" pitchFamily="18" charset="0"/>
                <a:cs typeface="Times New Roman" panose="02020603050405020304" pitchFamily="18" charset="0"/>
              </a:rPr>
              <a:t>CONCLUSION</a:t>
            </a:r>
          </a:p>
          <a:p>
            <a:r>
              <a:rPr lang="en-US" sz="2400" dirty="0" smtClean="0">
                <a:latin typeface="Times New Roman" panose="02020603050405020304" pitchFamily="18" charset="0"/>
                <a:cs typeface="Times New Roman" panose="02020603050405020304" pitchFamily="18" charset="0"/>
              </a:rPr>
              <a:t>FUTURE SCOPE</a:t>
            </a:r>
          </a:p>
          <a:p>
            <a:r>
              <a:rPr lang="en-US" sz="2400" dirty="0" smtClean="0">
                <a:latin typeface="Times New Roman" panose="02020603050405020304" pitchFamily="18" charset="0"/>
                <a:cs typeface="Times New Roman" panose="02020603050405020304" pitchFamily="18" charset="0"/>
              </a:rPr>
              <a:t>REFERENCES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16201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1091" y="629264"/>
            <a:ext cx="9703521" cy="1245717"/>
          </a:xfrm>
        </p:spPr>
        <p:txBody>
          <a:bodyPr/>
          <a:lstStyle/>
          <a:p>
            <a:r>
              <a:rPr lang="en-US" b="1" dirty="0" smtClean="0">
                <a:latin typeface="Times New Roman" panose="02020603050405020304" pitchFamily="18" charset="0"/>
                <a:cs typeface="Times New Roman" panose="02020603050405020304" pitchFamily="18" charset="0"/>
              </a:rPr>
              <a:t>INTRODUCTION</a:t>
            </a:r>
            <a:endParaRPr lang="en-US" b="1"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980502" y="2245955"/>
            <a:ext cx="1102788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ClrTx/>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ELFS (Efficient Lossless File System) is designed as a</a:t>
            </a:r>
            <a:r>
              <a:rPr kumimoji="0" lang="en-US" altLang="en-US" sz="24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read-write file system.</a:t>
            </a:r>
          </a:p>
          <a:p>
            <a:pPr defTabSz="914400" eaLnBrk="0" fontAlgn="base" hangingPunct="0">
              <a:spcBef>
                <a:spcPct val="0"/>
              </a:spcBef>
              <a:spcAft>
                <a:spcPct val="0"/>
              </a:spcAft>
              <a:buClrTx/>
            </a:pPr>
            <a:endParaRPr kumimoji="0" lang="en-US" altLang="en-US" sz="24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buClrTx/>
            </a:pPr>
            <a:r>
              <a:rPr lang="en-US" sz="2400" dirty="0" smtClean="0">
                <a:solidFill>
                  <a:schemeClr val="tx1"/>
                </a:solidFill>
                <a:latin typeface="Times New Roman" panose="02020603050405020304" pitchFamily="18" charset="0"/>
                <a:cs typeface="Times New Roman" panose="02020603050405020304" pitchFamily="18" charset="0"/>
              </a:rPr>
              <a:t>It stores </a:t>
            </a:r>
            <a:r>
              <a:rPr lang="en-US" sz="2400" dirty="0">
                <a:solidFill>
                  <a:schemeClr val="tx1"/>
                </a:solidFill>
                <a:latin typeface="Times New Roman" panose="02020603050405020304" pitchFamily="18" charset="0"/>
                <a:cs typeface="Times New Roman" panose="02020603050405020304" pitchFamily="18" charset="0"/>
              </a:rPr>
              <a:t>data in a way that allows it to be retrieved without any loss of information while also optimizing storage space and access speed</a:t>
            </a:r>
            <a:r>
              <a:rPr lang="en-US" sz="2400" dirty="0" smtClean="0">
                <a:solidFill>
                  <a:schemeClr val="tx1"/>
                </a:solidFill>
                <a:latin typeface="Times New Roman" panose="02020603050405020304" pitchFamily="18" charset="0"/>
                <a:cs typeface="Times New Roman" panose="02020603050405020304" pitchFamily="18" charset="0"/>
              </a:rPr>
              <a:t>.</a:t>
            </a:r>
          </a:p>
          <a:p>
            <a:pPr defTabSz="914400" eaLnBrk="0" fontAlgn="base" hangingPunct="0">
              <a:spcBef>
                <a:spcPct val="0"/>
              </a:spcBef>
              <a:spcAft>
                <a:spcPct val="0"/>
              </a:spcAft>
              <a:buClrTx/>
            </a:pPr>
            <a:endParaRPr kumimoji="0" lang="en-US" altLang="en-US" sz="24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buClrTx/>
            </a:pPr>
            <a:r>
              <a:rPr lang="en-US" altLang="en-US" sz="2400" baseline="0" dirty="0" smtClean="0">
                <a:solidFill>
                  <a:schemeClr val="tx1"/>
                </a:solidFill>
                <a:latin typeface="Times New Roman" panose="02020603050405020304" pitchFamily="18" charset="0"/>
                <a:cs typeface="Times New Roman" panose="02020603050405020304" pitchFamily="18" charset="0"/>
              </a:rPr>
              <a:t>Inspired</a:t>
            </a:r>
            <a:r>
              <a:rPr lang="en-US" altLang="en-US" sz="2400" dirty="0" smtClean="0">
                <a:solidFill>
                  <a:schemeClr val="tx1"/>
                </a:solidFill>
                <a:latin typeface="Times New Roman" panose="02020603050405020304" pitchFamily="18" charset="0"/>
                <a:cs typeface="Times New Roman" panose="02020603050405020304" pitchFamily="18" charset="0"/>
              </a:rPr>
              <a:t> by dwarfs/</a:t>
            </a:r>
            <a:r>
              <a:rPr lang="en-US" altLang="en-US" sz="2400" dirty="0" err="1" smtClean="0">
                <a:solidFill>
                  <a:schemeClr val="tx1"/>
                </a:solidFill>
                <a:latin typeface="Times New Roman" panose="02020603050405020304" pitchFamily="18" charset="0"/>
                <a:cs typeface="Times New Roman" panose="02020603050405020304" pitchFamily="18" charset="0"/>
              </a:rPr>
              <a:t>squashfs</a:t>
            </a:r>
            <a:r>
              <a:rPr lang="en-US" altLang="en-US" sz="2400" dirty="0" smtClean="0">
                <a:solidFill>
                  <a:schemeClr val="tx1"/>
                </a:solidFill>
                <a:latin typeface="Times New Roman" panose="02020603050405020304" pitchFamily="18" charset="0"/>
                <a:cs typeface="Times New Roman" panose="02020603050405020304" pitchFamily="18" charset="0"/>
              </a:rPr>
              <a:t> , ELFS utilizes </a:t>
            </a:r>
            <a:r>
              <a:rPr lang="en-US" altLang="en-US" sz="2400" dirty="0" err="1" smtClean="0">
                <a:solidFill>
                  <a:schemeClr val="tx1"/>
                </a:solidFill>
                <a:latin typeface="Times New Roman" panose="02020603050405020304" pitchFamily="18" charset="0"/>
                <a:cs typeface="Times New Roman" panose="02020603050405020304" pitchFamily="18" charset="0"/>
              </a:rPr>
              <a:t>Zstandard</a:t>
            </a:r>
            <a:r>
              <a:rPr lang="en-US" altLang="en-US" sz="2400" dirty="0" smtClean="0">
                <a:solidFill>
                  <a:schemeClr val="tx1"/>
                </a:solidFill>
                <a:latin typeface="Times New Roman" panose="02020603050405020304" pitchFamily="18" charset="0"/>
                <a:cs typeface="Times New Roman" panose="02020603050405020304" pitchFamily="18" charset="0"/>
              </a:rPr>
              <a:t>(</a:t>
            </a:r>
            <a:r>
              <a:rPr lang="en-US" altLang="en-US" sz="2400" dirty="0" err="1" smtClean="0">
                <a:solidFill>
                  <a:schemeClr val="tx1"/>
                </a:solidFill>
                <a:latin typeface="Times New Roman" panose="02020603050405020304" pitchFamily="18" charset="0"/>
                <a:cs typeface="Times New Roman" panose="02020603050405020304" pitchFamily="18" charset="0"/>
              </a:rPr>
              <a:t>Zstd</a:t>
            </a:r>
            <a:r>
              <a:rPr lang="en-US" altLang="en-US" sz="2400" dirty="0" smtClean="0">
                <a:solidFill>
                  <a:schemeClr val="tx1"/>
                </a:solidFill>
                <a:latin typeface="Times New Roman" panose="02020603050405020304" pitchFamily="18" charset="0"/>
                <a:cs typeface="Times New Roman" panose="02020603050405020304" pitchFamily="18" charset="0"/>
              </a:rPr>
              <a:t>) compression.</a:t>
            </a:r>
          </a:p>
          <a:p>
            <a:pPr defTabSz="914400" eaLnBrk="0" fontAlgn="base" hangingPunct="0">
              <a:spcBef>
                <a:spcPct val="0"/>
              </a:spcBef>
              <a:spcAft>
                <a:spcPct val="0"/>
              </a:spcAft>
              <a:buClrTx/>
            </a:pPr>
            <a:endParaRPr lang="en-US" altLang="en-US" sz="2400" dirty="0" smtClean="0">
              <a:solidFill>
                <a:schemeClr val="tx1"/>
              </a:solidFill>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buClrTx/>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Provides</a:t>
            </a:r>
            <a:r>
              <a:rPr kumimoji="0" lang="en-US" altLang="en-US" sz="24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storage in hot (decompressed) and cold (compressed) pots.</a:t>
            </a:r>
          </a:p>
          <a:p>
            <a:pPr defTabSz="914400" eaLnBrk="0" fontAlgn="base" hangingPunct="0">
              <a:spcBef>
                <a:spcPct val="0"/>
              </a:spcBef>
              <a:spcAft>
                <a:spcPct val="0"/>
              </a:spcAft>
              <a:buClrTx/>
            </a:pPr>
            <a:endParaRPr kumimoji="0" lang="en-US" altLang="en-US" sz="24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buClrTx/>
            </a:pPr>
            <a:r>
              <a:rPr lang="en-US" altLang="en-US" sz="2400" baseline="0" dirty="0" smtClean="0">
                <a:solidFill>
                  <a:schemeClr val="tx1"/>
                </a:solidFill>
                <a:latin typeface="Times New Roman" panose="02020603050405020304" pitchFamily="18" charset="0"/>
                <a:cs typeface="Times New Roman" panose="02020603050405020304" pitchFamily="18" charset="0"/>
              </a:rPr>
              <a:t>ELFS is</a:t>
            </a:r>
            <a:r>
              <a:rPr lang="en-US" altLang="en-US" sz="2400" dirty="0" smtClean="0">
                <a:solidFill>
                  <a:schemeClr val="tx1"/>
                </a:solidFill>
                <a:latin typeface="Times New Roman" panose="02020603050405020304" pitchFamily="18" charset="0"/>
                <a:cs typeface="Times New Roman" panose="02020603050405020304" pitchFamily="18" charset="0"/>
              </a:rPr>
              <a:t> scalable and also saves the cost.</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23247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LITERATURE SURVEY</a:t>
            </a:r>
            <a:endParaRPr lang="en-US" b="1"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89947221"/>
              </p:ext>
            </p:extLst>
          </p:nvPr>
        </p:nvGraphicFramePr>
        <p:xfrm>
          <a:off x="335281" y="1219199"/>
          <a:ext cx="11673840" cy="5486400"/>
        </p:xfrm>
        <a:graphic>
          <a:graphicData uri="http://schemas.openxmlformats.org/drawingml/2006/table">
            <a:tbl>
              <a:tblPr firstRow="1" bandRow="1">
                <a:tableStyleId>{5C22544A-7EE6-4342-B048-85BDC9FD1C3A}</a:tableStyleId>
              </a:tblPr>
              <a:tblGrid>
                <a:gridCol w="2918461">
                  <a:extLst>
                    <a:ext uri="{9D8B030D-6E8A-4147-A177-3AD203B41FA5}">
                      <a16:colId xmlns:a16="http://schemas.microsoft.com/office/drawing/2014/main" val="85840232"/>
                    </a:ext>
                  </a:extLst>
                </a:gridCol>
                <a:gridCol w="872786">
                  <a:extLst>
                    <a:ext uri="{9D8B030D-6E8A-4147-A177-3AD203B41FA5}">
                      <a16:colId xmlns:a16="http://schemas.microsoft.com/office/drawing/2014/main" val="181443952"/>
                    </a:ext>
                  </a:extLst>
                </a:gridCol>
                <a:gridCol w="3036444">
                  <a:extLst>
                    <a:ext uri="{9D8B030D-6E8A-4147-A177-3AD203B41FA5}">
                      <a16:colId xmlns:a16="http://schemas.microsoft.com/office/drawing/2014/main" val="2620876704"/>
                    </a:ext>
                  </a:extLst>
                </a:gridCol>
                <a:gridCol w="4846149">
                  <a:extLst>
                    <a:ext uri="{9D8B030D-6E8A-4147-A177-3AD203B41FA5}">
                      <a16:colId xmlns:a16="http://schemas.microsoft.com/office/drawing/2014/main" val="3627099357"/>
                    </a:ext>
                  </a:extLst>
                </a:gridCol>
              </a:tblGrid>
              <a:tr h="534415">
                <a:tc>
                  <a:txBody>
                    <a:bodyPr/>
                    <a:lstStyle/>
                    <a:p>
                      <a:pPr algn="ctr"/>
                      <a:r>
                        <a:rPr lang="en-US" sz="1600" dirty="0" smtClean="0">
                          <a:latin typeface="Times New Roman" panose="02020603050405020304" pitchFamily="18" charset="0"/>
                          <a:cs typeface="Times New Roman" panose="02020603050405020304" pitchFamily="18" charset="0"/>
                        </a:rPr>
                        <a:t>Author</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Year</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smtClean="0">
                          <a:latin typeface="Times New Roman" panose="02020603050405020304" pitchFamily="18" charset="0"/>
                          <a:cs typeface="Times New Roman" panose="02020603050405020304" pitchFamily="18" charset="0"/>
                        </a:rPr>
                        <a:t>Title</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smtClean="0">
                          <a:latin typeface="Times New Roman" panose="02020603050405020304" pitchFamily="18" charset="0"/>
                          <a:cs typeface="Times New Roman" panose="02020603050405020304" pitchFamily="18" charset="0"/>
                        </a:rPr>
                        <a:t>Purpose</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05521298"/>
                  </a:ext>
                </a:extLst>
              </a:tr>
              <a:tr h="961945">
                <a:tc>
                  <a:txBody>
                    <a:bodyPr/>
                    <a:lstStyle/>
                    <a:p>
                      <a:r>
                        <a:rPr lang="en-US" sz="1600" dirty="0" smtClean="0">
                          <a:latin typeface="Times New Roman" panose="02020603050405020304" pitchFamily="18" charset="0"/>
                          <a:cs typeface="Times New Roman" panose="02020603050405020304" pitchFamily="18" charset="0"/>
                        </a:rPr>
                        <a:t>Sanjay </a:t>
                      </a:r>
                      <a:r>
                        <a:rPr lang="en-US" sz="1600" dirty="0" err="1" smtClean="0">
                          <a:latin typeface="Times New Roman" panose="02020603050405020304" pitchFamily="18" charset="0"/>
                          <a:cs typeface="Times New Roman" panose="02020603050405020304" pitchFamily="18" charset="0"/>
                        </a:rPr>
                        <a:t>Ghemawat</a:t>
                      </a:r>
                      <a:r>
                        <a:rPr lang="en-US" sz="1600" dirty="0" smtClean="0">
                          <a:latin typeface="Times New Roman" panose="02020603050405020304" pitchFamily="18" charset="0"/>
                          <a:cs typeface="Times New Roman" panose="02020603050405020304" pitchFamily="18" charset="0"/>
                        </a:rPr>
                        <a:t>, Howard </a:t>
                      </a:r>
                      <a:r>
                        <a:rPr lang="en-US" sz="1600" dirty="0" err="1" smtClean="0">
                          <a:latin typeface="Times New Roman" panose="02020603050405020304" pitchFamily="18" charset="0"/>
                          <a:cs typeface="Times New Roman" panose="02020603050405020304" pitchFamily="18" charset="0"/>
                        </a:rPr>
                        <a:t>Gobioff</a:t>
                      </a:r>
                      <a:r>
                        <a:rPr lang="en-US" sz="1600" dirty="0" smtClean="0">
                          <a:latin typeface="Times New Roman" panose="02020603050405020304" pitchFamily="18" charset="0"/>
                          <a:cs typeface="Times New Roman" panose="02020603050405020304" pitchFamily="18" charset="0"/>
                        </a:rPr>
                        <a:t>, and Shun-</a:t>
                      </a:r>
                      <a:r>
                        <a:rPr lang="en-US" sz="1600" dirty="0" err="1" smtClean="0">
                          <a:latin typeface="Times New Roman" panose="02020603050405020304" pitchFamily="18" charset="0"/>
                          <a:cs typeface="Times New Roman" panose="02020603050405020304" pitchFamily="18" charset="0"/>
                        </a:rPr>
                        <a:t>Tak</a:t>
                      </a:r>
                      <a:r>
                        <a:rPr lang="en-US" sz="1600" dirty="0" smtClean="0">
                          <a:latin typeface="Times New Roman" panose="02020603050405020304" pitchFamily="18" charset="0"/>
                          <a:cs typeface="Times New Roman" panose="02020603050405020304" pitchFamily="18" charset="0"/>
                        </a:rPr>
                        <a:t> Leung</a:t>
                      </a:r>
                    </a:p>
                    <a:p>
                      <a:r>
                        <a:rPr lang="en-US" sz="1600" dirty="0" smtClean="0">
                          <a:latin typeface="Times New Roman" panose="02020603050405020304" pitchFamily="18" charset="0"/>
                          <a:cs typeface="Times New Roman" panose="02020603050405020304" pitchFamily="18" charset="0"/>
                        </a:rPr>
                        <a:t>Google</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2022</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Google File System</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kern="1200" dirty="0" smtClean="0">
                          <a:solidFill>
                            <a:schemeClr val="dk1"/>
                          </a:solidFill>
                          <a:effectLst/>
                          <a:latin typeface="Times New Roman" panose="02020603050405020304" pitchFamily="18" charset="0"/>
                          <a:ea typeface="+mn-ea"/>
                          <a:cs typeface="Times New Roman" panose="02020603050405020304" pitchFamily="18" charset="0"/>
                        </a:rPr>
                        <a:t>focuses on integrated compression techniques that optimize storage efficiency while ensuring high performance for data access.</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46505135"/>
                  </a:ext>
                </a:extLst>
              </a:tr>
              <a:tr h="961945">
                <a:tc>
                  <a:txBody>
                    <a:bodyPr/>
                    <a:lstStyle/>
                    <a:p>
                      <a:r>
                        <a:rPr lang="en-US" sz="1600" dirty="0" smtClean="0">
                          <a:latin typeface="Times New Roman" panose="02020603050405020304" pitchFamily="18" charset="0"/>
                          <a:cs typeface="Times New Roman" panose="02020603050405020304" pitchFamily="18" charset="0"/>
                        </a:rPr>
                        <a:t>Josef </a:t>
                      </a:r>
                      <a:r>
                        <a:rPr lang="en-US" sz="1600" dirty="0" err="1" smtClean="0">
                          <a:latin typeface="Times New Roman" panose="02020603050405020304" pitchFamily="18" charset="0"/>
                          <a:cs typeface="Times New Roman" panose="02020603050405020304" pitchFamily="18" charset="0"/>
                        </a:rPr>
                        <a:t>Bacik</a:t>
                      </a:r>
                      <a:r>
                        <a:rPr lang="en-US" sz="1600" dirty="0" smtClean="0">
                          <a:latin typeface="Times New Roman" panose="02020603050405020304" pitchFamily="18" charset="0"/>
                          <a:cs typeface="Times New Roman" panose="02020603050405020304" pitchFamily="18" charset="0"/>
                        </a:rPr>
                        <a:t>, Chris Mason</a:t>
                      </a:r>
                    </a:p>
                    <a:p>
                      <a:r>
                        <a:rPr lang="en-US" sz="1600" dirty="0" err="1" smtClean="0">
                          <a:latin typeface="Times New Roman" panose="02020603050405020304" pitchFamily="18" charset="0"/>
                          <a:cs typeface="Times New Roman" panose="02020603050405020304" pitchFamily="18" charset="0"/>
                        </a:rPr>
                        <a:t>FusionIO</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2012</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kern="1200" dirty="0" smtClean="0">
                          <a:solidFill>
                            <a:schemeClr val="dk1"/>
                          </a:solidFill>
                          <a:effectLst/>
                          <a:latin typeface="Times New Roman" panose="02020603050405020304" pitchFamily="18" charset="0"/>
                          <a:ea typeface="+mn-ea"/>
                          <a:cs typeface="Times New Roman" panose="02020603050405020304" pitchFamily="18" charset="0"/>
                        </a:rPr>
                        <a:t>IBM Research Report</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kern="1200" dirty="0" smtClean="0">
                          <a:solidFill>
                            <a:schemeClr val="dk1"/>
                          </a:solidFill>
                          <a:effectLst/>
                          <a:latin typeface="Times New Roman" panose="02020603050405020304" pitchFamily="18" charset="0"/>
                          <a:ea typeface="+mn-ea"/>
                          <a:cs typeface="Times New Roman" panose="02020603050405020304" pitchFamily="18" charset="0"/>
                        </a:rPr>
                        <a:t> It examines various compression algorithms, emphasizing the need for a balance between compression ratios and processing speed.</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71020474"/>
                  </a:ext>
                </a:extLst>
              </a:tr>
              <a:tr h="115078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smtClean="0">
                          <a:latin typeface="Times New Roman" panose="02020603050405020304" pitchFamily="18" charset="0"/>
                          <a:cs typeface="Times New Roman" panose="02020603050405020304" pitchFamily="18" charset="0"/>
                        </a:rPr>
                        <a:t>Xiang Gao1, </a:t>
                      </a:r>
                      <a:r>
                        <a:rPr lang="en-US" sz="1600" dirty="0" err="1" smtClean="0">
                          <a:latin typeface="Times New Roman" panose="02020603050405020304" pitchFamily="18" charset="0"/>
                          <a:cs typeface="Times New Roman" panose="02020603050405020304" pitchFamily="18" charset="0"/>
                        </a:rPr>
                        <a:t>Mingkai</a:t>
                      </a:r>
                      <a:r>
                        <a:rPr lang="en-US" sz="1600" dirty="0" smtClean="0">
                          <a:latin typeface="Times New Roman" panose="02020603050405020304" pitchFamily="18" charset="0"/>
                          <a:cs typeface="Times New Roman" panose="02020603050405020304" pitchFamily="18" charset="0"/>
                        </a:rPr>
                        <a:t> Dong2, </a:t>
                      </a:r>
                      <a:r>
                        <a:rPr lang="en-US" sz="1600" dirty="0" err="1" smtClean="0">
                          <a:latin typeface="Times New Roman" panose="02020603050405020304" pitchFamily="18" charset="0"/>
                          <a:cs typeface="Times New Roman" panose="02020603050405020304" pitchFamily="18" charset="0"/>
                        </a:rPr>
                        <a:t>Xie</a:t>
                      </a:r>
                      <a:r>
                        <a:rPr lang="en-US" sz="1600" dirty="0" smtClean="0">
                          <a:latin typeface="Times New Roman" panose="02020603050405020304" pitchFamily="18" charset="0"/>
                          <a:cs typeface="Times New Roman" panose="02020603050405020304" pitchFamily="18" charset="0"/>
                        </a:rPr>
                        <a:t> Miao1, Wei Du1, Chao Yu1, and </a:t>
                      </a:r>
                      <a:r>
                        <a:rPr lang="en-US" sz="1600" dirty="0" err="1" smtClean="0">
                          <a:latin typeface="Times New Roman" panose="02020603050405020304" pitchFamily="18" charset="0"/>
                          <a:cs typeface="Times New Roman" panose="02020603050405020304" pitchFamily="18" charset="0"/>
                        </a:rPr>
                        <a:t>Haibo</a:t>
                      </a:r>
                      <a:r>
                        <a:rPr lang="en-US" sz="1600" dirty="0" smtClean="0">
                          <a:latin typeface="Times New Roman" panose="02020603050405020304" pitchFamily="18" charset="0"/>
                          <a:cs typeface="Times New Roman" panose="02020603050405020304" pitchFamily="18" charset="0"/>
                        </a:rPr>
                        <a:t> Chen2,1</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2019</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kern="1200" dirty="0" smtClean="0">
                          <a:solidFill>
                            <a:schemeClr val="dk1"/>
                          </a:solidFill>
                          <a:effectLst/>
                          <a:latin typeface="Times New Roman" panose="02020603050405020304" pitchFamily="18" charset="0"/>
                          <a:ea typeface="+mn-ea"/>
                          <a:cs typeface="Times New Roman" panose="02020603050405020304" pitchFamily="18" charset="0"/>
                        </a:rPr>
                        <a:t>EROFS: A Compression-friendly read only file system for resource-scare devices</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kern="1200" dirty="0" smtClean="0">
                          <a:solidFill>
                            <a:schemeClr val="dk1"/>
                          </a:solidFill>
                          <a:effectLst/>
                          <a:latin typeface="Times New Roman" panose="02020603050405020304" pitchFamily="18" charset="0"/>
                          <a:ea typeface="+mn-ea"/>
                          <a:cs typeface="Times New Roman" panose="02020603050405020304" pitchFamily="18" charset="0"/>
                        </a:rPr>
                        <a:t>It introduces a file system designed for resource-constrained devices</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75198925"/>
                  </a:ext>
                </a:extLst>
              </a:tr>
              <a:tr h="961945">
                <a:tc>
                  <a:txBody>
                    <a:bodyPr/>
                    <a:lstStyle/>
                    <a:p>
                      <a:r>
                        <a:rPr lang="en-US" sz="1600" dirty="0" smtClean="0">
                          <a:latin typeface="Times New Roman" panose="02020603050405020304" pitchFamily="18" charset="0"/>
                          <a:cs typeface="Times New Roman" panose="02020603050405020304" pitchFamily="18" charset="0"/>
                        </a:rPr>
                        <a:t>Yann Collet</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2019</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kern="1200" dirty="0" err="1" smtClean="0">
                          <a:solidFill>
                            <a:schemeClr val="dk1"/>
                          </a:solidFill>
                          <a:effectLst/>
                          <a:latin typeface="Times New Roman" panose="02020603050405020304" pitchFamily="18" charset="0"/>
                          <a:ea typeface="+mn-ea"/>
                          <a:cs typeface="Times New Roman" panose="02020603050405020304" pitchFamily="18" charset="0"/>
                        </a:rPr>
                        <a:t>Zstandard</a:t>
                      </a:r>
                      <a:r>
                        <a:rPr lang="en-US" sz="1600" kern="1200" dirty="0" smtClean="0">
                          <a:solidFill>
                            <a:schemeClr val="dk1"/>
                          </a:solidFill>
                          <a:effectLst/>
                          <a:latin typeface="Times New Roman" panose="02020603050405020304" pitchFamily="18" charset="0"/>
                          <a:ea typeface="+mn-ea"/>
                          <a:cs typeface="Times New Roman" panose="02020603050405020304" pitchFamily="18" charset="0"/>
                        </a:rPr>
                        <a:t> :  A Fast lossless </a:t>
                      </a:r>
                      <a:r>
                        <a:rPr lang="en-US" sz="1600" kern="1200" dirty="0" err="1" smtClean="0">
                          <a:solidFill>
                            <a:schemeClr val="dk1"/>
                          </a:solidFill>
                          <a:effectLst/>
                          <a:latin typeface="Times New Roman" panose="02020603050405020304" pitchFamily="18" charset="0"/>
                          <a:ea typeface="+mn-ea"/>
                          <a:cs typeface="Times New Roman" panose="02020603050405020304" pitchFamily="18" charset="0"/>
                        </a:rPr>
                        <a:t>compressison</a:t>
                      </a:r>
                      <a:r>
                        <a:rPr lang="en-US" sz="1600" kern="1200" dirty="0" smtClean="0">
                          <a:solidFill>
                            <a:schemeClr val="dk1"/>
                          </a:solidFill>
                          <a:effectLst/>
                          <a:latin typeface="Times New Roman" panose="02020603050405020304" pitchFamily="18" charset="0"/>
                          <a:ea typeface="+mn-ea"/>
                          <a:cs typeface="Times New Roman" panose="02020603050405020304" pitchFamily="18" charset="0"/>
                        </a:rPr>
                        <a:t> algorithm</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kern="1200" dirty="0" smtClean="0">
                          <a:solidFill>
                            <a:schemeClr val="dk1"/>
                          </a:solidFill>
                          <a:effectLst/>
                          <a:latin typeface="Times New Roman" panose="02020603050405020304" pitchFamily="18" charset="0"/>
                          <a:ea typeface="+mn-ea"/>
                          <a:cs typeface="Times New Roman" panose="02020603050405020304" pitchFamily="18" charset="0"/>
                        </a:rPr>
                        <a:t>designed for both efficient compression and rapid decompression, making it ideal for various applications, including real-time data processing</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65016348"/>
                  </a:ext>
                </a:extLst>
              </a:tr>
              <a:tr h="915370">
                <a:tc>
                  <a:txBody>
                    <a:bodyPr/>
                    <a:lstStyle/>
                    <a:p>
                      <a:r>
                        <a:rPr lang="en-US" sz="1600" dirty="0" smtClean="0">
                          <a:latin typeface="Times New Roman" panose="02020603050405020304" pitchFamily="18" charset="0"/>
                          <a:cs typeface="Times New Roman" panose="02020603050405020304" pitchFamily="18" charset="0"/>
                        </a:rPr>
                        <a:t>Di </a:t>
                      </a:r>
                      <a:r>
                        <a:rPr lang="en-US" sz="1600" dirty="0" err="1" smtClean="0">
                          <a:latin typeface="Times New Roman" panose="02020603050405020304" pitchFamily="18" charset="0"/>
                          <a:cs typeface="Times New Roman" panose="02020603050405020304" pitchFamily="18" charset="0"/>
                        </a:rPr>
                        <a:t>wu,Zizhong</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Chen,Franck</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Cappello</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2019</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kern="1200" dirty="0" smtClean="0">
                          <a:solidFill>
                            <a:schemeClr val="dk1"/>
                          </a:solidFill>
                          <a:effectLst/>
                          <a:latin typeface="Times New Roman" panose="02020603050405020304" pitchFamily="18" charset="0"/>
                          <a:ea typeface="+mn-ea"/>
                          <a:cs typeface="Times New Roman" panose="02020603050405020304" pitchFamily="18" charset="0"/>
                        </a:rPr>
                        <a:t>Efficient lossless compression of numerical data arrays</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kern="1200" dirty="0" smtClean="0">
                          <a:solidFill>
                            <a:schemeClr val="dk1"/>
                          </a:solidFill>
                          <a:effectLst/>
                          <a:latin typeface="Times New Roman" panose="02020603050405020304" pitchFamily="18" charset="0"/>
                          <a:ea typeface="+mn-ea"/>
                          <a:cs typeface="Times New Roman" panose="02020603050405020304" pitchFamily="18" charset="0"/>
                        </a:rPr>
                        <a:t>techniques for efficiently compressing numerical data arrays without loss of information</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76775091"/>
                  </a:ext>
                </a:extLst>
              </a:tr>
            </a:tbl>
          </a:graphicData>
        </a:graphic>
      </p:graphicFrame>
    </p:spTree>
    <p:extLst>
      <p:ext uri="{BB962C8B-B14F-4D97-AF65-F5344CB8AC3E}">
        <p14:creationId xmlns:p14="http://schemas.microsoft.com/office/powerpoint/2010/main" val="4239143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PROBLEM STATMENT</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729897" y="2170322"/>
            <a:ext cx="9529342" cy="3762933"/>
          </a:xfrm>
        </p:spPr>
        <p:txBody>
          <a:bodyPr>
            <a:normAutofit/>
          </a:bodyPr>
          <a:lstStyle/>
          <a:p>
            <a:r>
              <a:rPr lang="en-US" sz="2400" dirty="0">
                <a:latin typeface="Times New Roman" panose="02020603050405020304" pitchFamily="18" charset="0"/>
                <a:cs typeface="Times New Roman" panose="02020603050405020304" pitchFamily="18" charset="0"/>
              </a:rPr>
              <a:t>To solve these problems, we can use smarter systems that adjust to different tasks and save space without slowing down. Using faster hardware and better planning can make things quicker and more </a:t>
            </a:r>
            <a:r>
              <a:rPr lang="en-US" sz="2400" dirty="0" err="1" smtClean="0">
                <a:latin typeface="Times New Roman" panose="02020603050405020304" pitchFamily="18" charset="0"/>
                <a:cs typeface="Times New Roman" panose="02020603050405020304" pitchFamily="18" charset="0"/>
              </a:rPr>
              <a:t>reliable.Simple</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tests help compare performance, and smart tools help understand storage better. Fixing errors and using better methods can make systems safer and easier to grow. Also, reducing extra work like journaling can speed things up.</a:t>
            </a:r>
          </a:p>
        </p:txBody>
      </p:sp>
    </p:spTree>
    <p:extLst>
      <p:ext uri="{BB962C8B-B14F-4D97-AF65-F5344CB8AC3E}">
        <p14:creationId xmlns:p14="http://schemas.microsoft.com/office/powerpoint/2010/main" val="35623514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7854" y="624110"/>
            <a:ext cx="8911687" cy="831064"/>
          </a:xfrm>
        </p:spPr>
        <p:txBody>
          <a:bodyPr/>
          <a:lstStyle/>
          <a:p>
            <a:r>
              <a:rPr lang="en-US" b="1" dirty="0" smtClean="0">
                <a:latin typeface="Times New Roman" panose="02020603050405020304" pitchFamily="18" charset="0"/>
                <a:cs typeface="Times New Roman" panose="02020603050405020304" pitchFamily="18" charset="0"/>
              </a:rPr>
              <a:t>MOTIVATION &amp; OBJECTIVE</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30709" y="1487948"/>
            <a:ext cx="10972800" cy="5156930"/>
          </a:xfrm>
        </p:spPr>
        <p:txBody>
          <a:bodyPr>
            <a:noAutofit/>
          </a:bodyPr>
          <a:lstStyle/>
          <a:p>
            <a:r>
              <a:rPr lang="en-US" sz="2400" b="1" dirty="0">
                <a:solidFill>
                  <a:schemeClr val="tx1"/>
                </a:solidFill>
                <a:latin typeface="Times New Roman" panose="02020603050405020304" pitchFamily="18" charset="0"/>
                <a:cs typeface="Times New Roman" panose="02020603050405020304" pitchFamily="18" charset="0"/>
              </a:rPr>
              <a:t>Data Integrity and </a:t>
            </a:r>
            <a:r>
              <a:rPr lang="en-US" sz="2400" b="1" dirty="0" smtClean="0">
                <a:solidFill>
                  <a:schemeClr val="tx1"/>
                </a:solidFill>
                <a:latin typeface="Times New Roman" panose="02020603050405020304" pitchFamily="18" charset="0"/>
                <a:cs typeface="Times New Roman" panose="02020603050405020304" pitchFamily="18" charset="0"/>
              </a:rPr>
              <a:t>Reliability:</a:t>
            </a:r>
            <a:r>
              <a:rPr lang="en-US" sz="2400" b="1" dirty="0">
                <a:solidFill>
                  <a:schemeClr val="tx1"/>
                </a:solidFill>
                <a:latin typeface="Times New Roman" panose="02020603050405020304" pitchFamily="18" charset="0"/>
                <a:cs typeface="Times New Roman" panose="02020603050405020304" pitchFamily="18" charset="0"/>
              </a:rPr>
              <a:t> </a:t>
            </a:r>
            <a:r>
              <a:rPr lang="en-US" sz="2400" dirty="0" smtClean="0">
                <a:solidFill>
                  <a:schemeClr val="tx1"/>
                </a:solidFill>
                <a:latin typeface="Times New Roman" panose="02020603050405020304" pitchFamily="18" charset="0"/>
                <a:cs typeface="Times New Roman" panose="02020603050405020304" pitchFamily="18" charset="0"/>
              </a:rPr>
              <a:t>Preservation </a:t>
            </a:r>
            <a:r>
              <a:rPr lang="en-US" sz="2400" dirty="0">
                <a:solidFill>
                  <a:schemeClr val="tx1"/>
                </a:solidFill>
                <a:latin typeface="Times New Roman" panose="02020603050405020304" pitchFamily="18" charset="0"/>
                <a:cs typeface="Times New Roman" panose="02020603050405020304" pitchFamily="18" charset="0"/>
              </a:rPr>
              <a:t>of Original Data. Data integrity locks for concurrent file operations.</a:t>
            </a:r>
            <a:endParaRPr lang="en-US" sz="2400" dirty="0" smtClean="0">
              <a:solidFill>
                <a:schemeClr val="tx1"/>
              </a:solidFill>
              <a:latin typeface="Times New Roman" panose="02020603050405020304" pitchFamily="18" charset="0"/>
              <a:cs typeface="Times New Roman" panose="02020603050405020304" pitchFamily="18" charset="0"/>
            </a:endParaRPr>
          </a:p>
          <a:p>
            <a:pPr marL="0" indent="0">
              <a:buNone/>
            </a:pPr>
            <a:endParaRPr lang="en-US" sz="2400" dirty="0" smtClean="0">
              <a:solidFill>
                <a:schemeClr val="tx1"/>
              </a:solidFill>
              <a:latin typeface="Times New Roman" panose="02020603050405020304" pitchFamily="18" charset="0"/>
              <a:cs typeface="Times New Roman" panose="02020603050405020304" pitchFamily="18" charset="0"/>
            </a:endParaRPr>
          </a:p>
          <a:p>
            <a:r>
              <a:rPr lang="en-US" sz="2400" b="1" dirty="0" smtClean="0">
                <a:solidFill>
                  <a:schemeClr val="tx1"/>
                </a:solidFill>
                <a:latin typeface="Times New Roman" panose="02020603050405020304" pitchFamily="18" charset="0"/>
                <a:cs typeface="Times New Roman" panose="02020603050405020304" pitchFamily="18" charset="0"/>
              </a:rPr>
              <a:t>Storage Efficiency: </a:t>
            </a:r>
            <a:r>
              <a:rPr lang="en-US" sz="2400" dirty="0" smtClean="0">
                <a:solidFill>
                  <a:schemeClr val="tx1"/>
                </a:solidFill>
                <a:latin typeface="Times New Roman" panose="02020603050405020304" pitchFamily="18" charset="0"/>
                <a:cs typeface="Times New Roman" panose="02020603050405020304" pitchFamily="18" charset="0"/>
              </a:rPr>
              <a:t>Optimizing </a:t>
            </a:r>
            <a:r>
              <a:rPr lang="en-US" sz="2400" dirty="0">
                <a:solidFill>
                  <a:schemeClr val="tx1"/>
                </a:solidFill>
                <a:latin typeface="Times New Roman" panose="02020603050405020304" pitchFamily="18" charset="0"/>
                <a:cs typeface="Times New Roman" panose="02020603050405020304" pitchFamily="18" charset="0"/>
              </a:rPr>
              <a:t>Storage </a:t>
            </a:r>
            <a:r>
              <a:rPr lang="en-US" sz="2400" dirty="0" smtClean="0">
                <a:solidFill>
                  <a:schemeClr val="tx1"/>
                </a:solidFill>
                <a:latin typeface="Times New Roman" panose="02020603050405020304" pitchFamily="18" charset="0"/>
                <a:cs typeface="Times New Roman" panose="02020603050405020304" pitchFamily="18" charset="0"/>
              </a:rPr>
              <a:t>Space , Reducing Redundancy , </a:t>
            </a:r>
            <a:r>
              <a:rPr lang="en-US" sz="2400" dirty="0">
                <a:solidFill>
                  <a:schemeClr val="tx1"/>
                </a:solidFill>
                <a:latin typeface="Times New Roman" panose="02020603050405020304" pitchFamily="18" charset="0"/>
                <a:cs typeface="Times New Roman" panose="02020603050405020304" pitchFamily="18" charset="0"/>
              </a:rPr>
              <a:t>Cold and hot storage pots for file </a:t>
            </a:r>
            <a:r>
              <a:rPr lang="en-US" sz="2400" dirty="0" err="1">
                <a:solidFill>
                  <a:schemeClr val="tx1"/>
                </a:solidFill>
                <a:latin typeface="Times New Roman" panose="02020603050405020304" pitchFamily="18" charset="0"/>
                <a:cs typeface="Times New Roman" panose="02020603050405020304" pitchFamily="18" charset="0"/>
              </a:rPr>
              <a:t>io</a:t>
            </a:r>
            <a:r>
              <a:rPr lang="en-US" sz="2400" dirty="0">
                <a:solidFill>
                  <a:schemeClr val="tx1"/>
                </a:solidFill>
                <a:latin typeface="Times New Roman" panose="02020603050405020304" pitchFamily="18" charset="0"/>
                <a:cs typeface="Times New Roman" panose="02020603050405020304" pitchFamily="18" charset="0"/>
              </a:rPr>
              <a:t> operations</a:t>
            </a:r>
            <a:r>
              <a:rPr lang="en-US" sz="2400" dirty="0" smtClean="0">
                <a:solidFill>
                  <a:schemeClr val="tx1"/>
                </a:solidFill>
                <a:latin typeface="Times New Roman" panose="02020603050405020304" pitchFamily="18" charset="0"/>
                <a:cs typeface="Times New Roman" panose="02020603050405020304" pitchFamily="18" charset="0"/>
              </a:rPr>
              <a:t>.</a:t>
            </a:r>
          </a:p>
          <a:p>
            <a:pPr marL="514350" indent="-514350">
              <a:buFont typeface="+mj-lt"/>
              <a:buAutoNum type="alphaLcPeriod"/>
            </a:pPr>
            <a:endParaRPr lang="en-US" sz="2400" dirty="0">
              <a:solidFill>
                <a:schemeClr val="tx1"/>
              </a:solidFill>
              <a:latin typeface="Times New Roman" panose="02020603050405020304" pitchFamily="18" charset="0"/>
              <a:cs typeface="Times New Roman" panose="02020603050405020304" pitchFamily="18" charset="0"/>
            </a:endParaRPr>
          </a:p>
          <a:p>
            <a:r>
              <a:rPr lang="en-US" sz="2400" b="1" dirty="0" smtClean="0">
                <a:latin typeface="Times New Roman" panose="02020603050405020304" pitchFamily="18" charset="0"/>
                <a:cs typeface="Times New Roman" panose="02020603050405020304" pitchFamily="18" charset="0"/>
              </a:rPr>
              <a:t>Cost </a:t>
            </a:r>
            <a:r>
              <a:rPr lang="en-US" sz="2400" b="1" dirty="0" err="1" smtClean="0">
                <a:latin typeface="Times New Roman" panose="02020603050405020304" pitchFamily="18" charset="0"/>
                <a:cs typeface="Times New Roman" panose="02020603050405020304" pitchFamily="18" charset="0"/>
              </a:rPr>
              <a:t>Efiiciency</a:t>
            </a:r>
            <a:r>
              <a:rPr lang="en-US" sz="2400" b="1" dirty="0" smtClean="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Minimizing </a:t>
            </a:r>
            <a:r>
              <a:rPr lang="en-US" sz="2400" dirty="0">
                <a:latin typeface="Times New Roman" panose="02020603050405020304" pitchFamily="18" charset="0"/>
                <a:cs typeface="Times New Roman" panose="02020603050405020304" pitchFamily="18" charset="0"/>
              </a:rPr>
              <a:t>the hardware </a:t>
            </a:r>
            <a:r>
              <a:rPr lang="en-US" sz="2400" dirty="0" smtClean="0">
                <a:latin typeface="Times New Roman" panose="02020603050405020304" pitchFamily="18" charset="0"/>
                <a:cs typeface="Times New Roman" panose="02020603050405020304" pitchFamily="18" charset="0"/>
              </a:rPr>
              <a:t>requirements.</a:t>
            </a:r>
          </a:p>
          <a:p>
            <a:pPr marL="457200" indent="-457200">
              <a:buFont typeface="+mj-lt"/>
              <a:buAutoNum type="alphaLcPeriod"/>
            </a:pPr>
            <a:endParaRPr lang="en-US" sz="2400" dirty="0" smtClean="0">
              <a:latin typeface="Times New Roman" panose="02020603050405020304" pitchFamily="18" charset="0"/>
              <a:cs typeface="Times New Roman" panose="02020603050405020304" pitchFamily="18" charset="0"/>
            </a:endParaRPr>
          </a:p>
          <a:p>
            <a:r>
              <a:rPr lang="en-US" sz="2400" b="1" dirty="0" smtClean="0">
                <a:latin typeface="Times New Roman" panose="02020603050405020304" pitchFamily="18" charset="0"/>
                <a:cs typeface="Times New Roman" panose="02020603050405020304" pitchFamily="18" charset="0"/>
              </a:rPr>
              <a:t>Security: </a:t>
            </a:r>
            <a:r>
              <a:rPr lang="en-US" sz="2400" dirty="0" smtClean="0">
                <a:latin typeface="Times New Roman" panose="02020603050405020304" pitchFamily="18" charset="0"/>
                <a:cs typeface="Times New Roman" panose="02020603050405020304" pitchFamily="18" charset="0"/>
              </a:rPr>
              <a:t>Protecting </a:t>
            </a:r>
            <a:r>
              <a:rPr lang="en-US" sz="2400" dirty="0">
                <a:latin typeface="Times New Roman" panose="02020603050405020304" pitchFamily="18" charset="0"/>
                <a:cs typeface="Times New Roman" panose="02020603050405020304" pitchFamily="18" charset="0"/>
              </a:rPr>
              <a:t>Sensitive </a:t>
            </a:r>
            <a:r>
              <a:rPr lang="en-US" sz="2400" dirty="0" smtClean="0">
                <a:latin typeface="Times New Roman" panose="02020603050405020304" pitchFamily="18" charset="0"/>
                <a:cs typeface="Times New Roman" panose="02020603050405020304" pitchFamily="18" charset="0"/>
              </a:rPr>
              <a:t>Information</a:t>
            </a:r>
          </a:p>
          <a:p>
            <a:pPr marL="0" indent="0">
              <a:buNone/>
            </a:pPr>
            <a:endParaRPr lang="en-US" sz="2400" dirty="0" smtClean="0">
              <a:solidFill>
                <a:schemeClr val="tx1"/>
              </a:solidFill>
              <a:latin typeface="Times New Roman" panose="02020603050405020304" pitchFamily="18" charset="0"/>
              <a:cs typeface="Times New Roman" panose="02020603050405020304" pitchFamily="18" charset="0"/>
            </a:endParaRPr>
          </a:p>
          <a:p>
            <a:r>
              <a:rPr lang="en-US" sz="2400" dirty="0" smtClean="0">
                <a:solidFill>
                  <a:schemeClr val="tx1"/>
                </a:solidFill>
                <a:latin typeface="Times New Roman" panose="02020603050405020304" pitchFamily="18" charset="0"/>
                <a:cs typeface="Times New Roman" panose="02020603050405020304" pitchFamily="18" charset="0"/>
              </a:rPr>
              <a:t>Data </a:t>
            </a:r>
            <a:r>
              <a:rPr lang="en-US" sz="2400" dirty="0">
                <a:solidFill>
                  <a:schemeClr val="tx1"/>
                </a:solidFill>
                <a:latin typeface="Times New Roman" panose="02020603050405020304" pitchFamily="18" charset="0"/>
                <a:cs typeface="Times New Roman" panose="02020603050405020304" pitchFamily="18" charset="0"/>
              </a:rPr>
              <a:t>agnostic </a:t>
            </a:r>
            <a:r>
              <a:rPr lang="en-US" sz="2400" dirty="0" err="1">
                <a:solidFill>
                  <a:schemeClr val="tx1"/>
                </a:solidFill>
                <a:latin typeface="Times New Roman" panose="02020603050405020304" pitchFamily="18" charset="0"/>
                <a:cs typeface="Times New Roman" panose="02020603050405020304" pitchFamily="18" charset="0"/>
              </a:rPr>
              <a:t>filesystem</a:t>
            </a:r>
            <a:r>
              <a:rPr lang="en-US" sz="2400" dirty="0">
                <a:solidFill>
                  <a:schemeClr val="tx1"/>
                </a:solidFill>
                <a:latin typeface="Times New Roman" panose="02020603050405020304" pitchFamily="18" charset="0"/>
                <a:cs typeface="Times New Roman" panose="02020603050405020304" pitchFamily="18" charset="0"/>
              </a:rPr>
              <a:t> for wide use case.</a:t>
            </a:r>
            <a:endParaRPr lang="en-US" sz="2400" dirty="0" smtClean="0">
              <a:solidFill>
                <a:schemeClr val="tx1"/>
              </a:solidFill>
              <a:latin typeface="Times New Roman" panose="02020603050405020304" pitchFamily="18" charset="0"/>
              <a:cs typeface="Times New Roman" panose="02020603050405020304" pitchFamily="18" charset="0"/>
            </a:endParaRPr>
          </a:p>
          <a:p>
            <a:pPr marL="514350" indent="-514350">
              <a:buFont typeface="+mj-lt"/>
              <a:buAutoNum type="alphaLcPeriod"/>
            </a:pPr>
            <a:endParaRPr lang="en-US" sz="2000" dirty="0" smtClean="0">
              <a:solidFill>
                <a:schemeClr val="tx1"/>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6617109" y="1592824"/>
            <a:ext cx="4286865" cy="400110"/>
          </a:xfrm>
          <a:prstGeom prst="rect">
            <a:avLst/>
          </a:prstGeom>
          <a:noFill/>
        </p:spPr>
        <p:txBody>
          <a:bodyPr wrap="square" rtlCol="0">
            <a:spAutoFit/>
          </a:bodyPr>
          <a:lstStyle/>
          <a:p>
            <a:r>
              <a:rPr lang="en-US" sz="2000" dirty="0" smtClean="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86005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3883" y="692936"/>
            <a:ext cx="8911687" cy="1280890"/>
          </a:xfrm>
        </p:spPr>
        <p:txBody>
          <a:bodyPr/>
          <a:lstStyle/>
          <a:p>
            <a:r>
              <a:rPr lang="en-US" b="1" dirty="0" smtClean="0">
                <a:latin typeface="Times New Roman" panose="02020603050405020304" pitchFamily="18" charset="0"/>
                <a:cs typeface="Times New Roman" panose="02020603050405020304" pitchFamily="18" charset="0"/>
              </a:rPr>
              <a:t>SYSTEM ARCHITECTURE</a:t>
            </a:r>
            <a:endParaRPr lang="en-US" b="1"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idx="1"/>
          </p:nvPr>
        </p:nvSpPr>
        <p:spPr>
          <a:xfrm>
            <a:off x="1907458" y="1973826"/>
            <a:ext cx="9606116" cy="4574458"/>
          </a:xfrm>
        </p:spPr>
        <p:txBody>
          <a:bodyPr>
            <a:normAutofit/>
          </a:bodyPr>
          <a:lstStyle/>
          <a:p>
            <a:r>
              <a:rPr lang="en-US" sz="2400" dirty="0">
                <a:latin typeface="Times New Roman" panose="02020603050405020304" pitchFamily="18" charset="0"/>
                <a:cs typeface="Times New Roman" panose="02020603050405020304" pitchFamily="18" charset="0"/>
              </a:rPr>
              <a:t>Compression: Utilizes </a:t>
            </a:r>
            <a:r>
              <a:rPr lang="en-US" sz="2400" dirty="0" err="1">
                <a:latin typeface="Times New Roman" panose="02020603050405020304" pitchFamily="18" charset="0"/>
                <a:cs typeface="Times New Roman" panose="02020603050405020304" pitchFamily="18" charset="0"/>
              </a:rPr>
              <a:t>Zstd</a:t>
            </a:r>
            <a:r>
              <a:rPr lang="en-US" sz="2400" dirty="0">
                <a:latin typeface="Times New Roman" panose="02020603050405020304" pitchFamily="18" charset="0"/>
                <a:cs typeface="Times New Roman" panose="02020603050405020304" pitchFamily="18" charset="0"/>
              </a:rPr>
              <a:t> for efficient file compression</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Read-Write </a:t>
            </a:r>
            <a:r>
              <a:rPr lang="en-US" sz="2400" dirty="0">
                <a:latin typeface="Times New Roman" panose="02020603050405020304" pitchFamily="18" charset="0"/>
                <a:cs typeface="Times New Roman" panose="02020603050405020304" pitchFamily="18" charset="0"/>
              </a:rPr>
              <a:t>Support: Enables both reading and writing of data</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Storage </a:t>
            </a:r>
            <a:r>
              <a:rPr lang="en-US" sz="2400" dirty="0">
                <a:latin typeface="Times New Roman" panose="02020603050405020304" pitchFamily="18" charset="0"/>
                <a:cs typeface="Times New Roman" panose="02020603050405020304" pitchFamily="18" charset="0"/>
              </a:rPr>
              <a:t>Pots: Manages data in hot (decompressed) and cold (compressed) storage</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Tools:</a:t>
            </a:r>
          </a:p>
          <a:p>
            <a:pPr>
              <a:buFont typeface="+mj-lt"/>
              <a:buAutoNum type="arabicPeriod"/>
            </a:pPr>
            <a:r>
              <a:rPr lang="en-US" sz="2400" dirty="0" err="1" smtClean="0">
                <a:latin typeface="Times New Roman" panose="02020603050405020304" pitchFamily="18" charset="0"/>
                <a:cs typeface="Times New Roman" panose="02020603050405020304" pitchFamily="18" charset="0"/>
              </a:rPr>
              <a:t>elfs</a:t>
            </a:r>
            <a:r>
              <a:rPr lang="en-US" sz="2400" dirty="0" smtClean="0">
                <a:latin typeface="Times New Roman" panose="02020603050405020304" pitchFamily="18" charset="0"/>
                <a:cs typeface="Times New Roman" panose="02020603050405020304" pitchFamily="18" charset="0"/>
              </a:rPr>
              <a:t>-mount</a:t>
            </a:r>
            <a:r>
              <a:rPr lang="en-US" sz="2400" dirty="0">
                <a:latin typeface="Times New Roman" panose="02020603050405020304" pitchFamily="18" charset="0"/>
                <a:cs typeface="Times New Roman" panose="02020603050405020304" pitchFamily="18" charset="0"/>
              </a:rPr>
              <a:t>: Mounts ELFS file systems</a:t>
            </a:r>
            <a:r>
              <a:rPr lang="en-US" sz="2400" dirty="0" smtClean="0">
                <a:latin typeface="Times New Roman" panose="02020603050405020304" pitchFamily="18" charset="0"/>
                <a:cs typeface="Times New Roman" panose="02020603050405020304" pitchFamily="18" charset="0"/>
              </a:rPr>
              <a:t>.</a:t>
            </a:r>
          </a:p>
          <a:p>
            <a:pPr>
              <a:buFont typeface="+mj-lt"/>
              <a:buAutoNum type="arabicPeriod"/>
            </a:pPr>
            <a:r>
              <a:rPr lang="en-US" sz="2400" dirty="0" err="1" smtClean="0">
                <a:latin typeface="Times New Roman" panose="02020603050405020304" pitchFamily="18" charset="0"/>
                <a:cs typeface="Times New Roman" panose="02020603050405020304" pitchFamily="18" charset="0"/>
              </a:rPr>
              <a:t>elfs</a:t>
            </a:r>
            <a:r>
              <a:rPr lang="en-US" sz="2400" dirty="0" smtClean="0">
                <a:latin typeface="Times New Roman" panose="02020603050405020304" pitchFamily="18" charset="0"/>
                <a:cs typeface="Times New Roman" panose="02020603050405020304" pitchFamily="18" charset="0"/>
              </a:rPr>
              <a:t>-extract</a:t>
            </a:r>
            <a:r>
              <a:rPr lang="en-US" sz="2400" dirty="0">
                <a:latin typeface="Times New Roman" panose="02020603050405020304" pitchFamily="18" charset="0"/>
                <a:cs typeface="Times New Roman" panose="02020603050405020304" pitchFamily="18" charset="0"/>
              </a:rPr>
              <a:t>: Extracts data from ELFS file systems</a:t>
            </a:r>
            <a:r>
              <a:rPr lang="en-US" sz="2400" dirty="0" smtClean="0">
                <a:latin typeface="Times New Roman" panose="02020603050405020304" pitchFamily="18" charset="0"/>
                <a:cs typeface="Times New Roman" panose="02020603050405020304" pitchFamily="18" charset="0"/>
              </a:rPr>
              <a:t>.</a:t>
            </a:r>
          </a:p>
          <a:p>
            <a:pPr>
              <a:buFont typeface="+mj-lt"/>
              <a:buAutoNum type="arabicPeriod"/>
            </a:pPr>
            <a:r>
              <a:rPr lang="en-US" sz="2400" dirty="0" err="1" smtClean="0">
                <a:latin typeface="Times New Roman" panose="02020603050405020304" pitchFamily="18" charset="0"/>
                <a:cs typeface="Times New Roman" panose="02020603050405020304" pitchFamily="18" charset="0"/>
              </a:rPr>
              <a:t>elfs</a:t>
            </a:r>
            <a:r>
              <a:rPr lang="en-US" sz="2400" dirty="0" smtClean="0">
                <a:latin typeface="Times New Roman" panose="02020603050405020304" pitchFamily="18" charset="0"/>
                <a:cs typeface="Times New Roman" panose="02020603050405020304" pitchFamily="18" charset="0"/>
              </a:rPr>
              <a:t>-make</a:t>
            </a:r>
            <a:r>
              <a:rPr lang="en-US" sz="2400" dirty="0">
                <a:latin typeface="Times New Roman" panose="02020603050405020304" pitchFamily="18" charset="0"/>
                <a:cs typeface="Times New Roman" panose="02020603050405020304" pitchFamily="18" charset="0"/>
              </a:rPr>
              <a:t>: Creates new ELFS file systems</a:t>
            </a:r>
            <a:r>
              <a:rPr lang="en-US" sz="2400" dirty="0" smtClean="0">
                <a:latin typeface="Times New Roman" panose="02020603050405020304" pitchFamily="18" charset="0"/>
                <a:cs typeface="Times New Roman" panose="02020603050405020304" pitchFamily="18" charset="0"/>
              </a:rPr>
              <a:t>.</a:t>
            </a:r>
          </a:p>
          <a:p>
            <a:pPr>
              <a:buFont typeface="+mj-lt"/>
              <a:buAutoNum type="arabicPeriod"/>
            </a:pPr>
            <a:r>
              <a:rPr lang="en-US" sz="2400" dirty="0" err="1" smtClean="0">
                <a:latin typeface="Times New Roman" panose="02020603050405020304" pitchFamily="18" charset="0"/>
                <a:cs typeface="Times New Roman" panose="02020603050405020304" pitchFamily="18" charset="0"/>
              </a:rPr>
              <a:t>elfscat</a:t>
            </a:r>
            <a:r>
              <a:rPr lang="en-US" sz="2400" dirty="0">
                <a:latin typeface="Times New Roman" panose="02020603050405020304" pitchFamily="18" charset="0"/>
                <a:cs typeface="Times New Roman" panose="02020603050405020304" pitchFamily="18" charset="0"/>
              </a:rPr>
              <a:t>: Displays content of ELFS file systems.</a:t>
            </a:r>
            <a:endParaRPr lang="en-US" sz="2400" dirty="0"/>
          </a:p>
        </p:txBody>
      </p:sp>
    </p:spTree>
    <p:extLst>
      <p:ext uri="{BB962C8B-B14F-4D97-AF65-F5344CB8AC3E}">
        <p14:creationId xmlns:p14="http://schemas.microsoft.com/office/powerpoint/2010/main" val="10852242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0496" y="534794"/>
            <a:ext cx="9088916" cy="5890754"/>
          </a:xfrm>
          <a:prstGeom prst="rect">
            <a:avLst/>
          </a:prstGeom>
        </p:spPr>
      </p:pic>
    </p:spTree>
    <p:extLst>
      <p:ext uri="{BB962C8B-B14F-4D97-AF65-F5344CB8AC3E}">
        <p14:creationId xmlns:p14="http://schemas.microsoft.com/office/powerpoint/2010/main" val="30201159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8329" y="624110"/>
            <a:ext cx="9456283" cy="1280890"/>
          </a:xfrm>
        </p:spPr>
        <p:txBody>
          <a:bodyPr/>
          <a:lstStyle/>
          <a:p>
            <a:r>
              <a:rPr lang="en-US" b="1" dirty="0" smtClean="0">
                <a:latin typeface="Times New Roman" panose="02020603050405020304" pitchFamily="18" charset="0"/>
                <a:cs typeface="Times New Roman" panose="02020603050405020304" pitchFamily="18" charset="0"/>
              </a:rPr>
              <a:t>HARDWARE &amp; SOFTWARE REQUIREMENT</a:t>
            </a:r>
            <a:endParaRPr lang="en-US" b="1" dirty="0">
              <a:latin typeface="Times New Roman" panose="02020603050405020304" pitchFamily="18" charset="0"/>
              <a:cs typeface="Times New Roman" panose="02020603050405020304" pitchFamily="18" charset="0"/>
            </a:endParaRPr>
          </a:p>
        </p:txBody>
      </p:sp>
      <p:sp>
        <p:nvSpPr>
          <p:cNvPr id="5" name="Rectangle 1"/>
          <p:cNvSpPr>
            <a:spLocks noChangeArrowheads="1"/>
          </p:cNvSpPr>
          <p:nvPr/>
        </p:nvSpPr>
        <p:spPr bwMode="auto">
          <a:xfrm>
            <a:off x="-4327071" y="-127362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graphicFrame>
        <p:nvGraphicFramePr>
          <p:cNvPr id="19" name="Table 18"/>
          <p:cNvGraphicFramePr>
            <a:graphicFrameLocks noGrp="1"/>
          </p:cNvGraphicFramePr>
          <p:nvPr>
            <p:extLst>
              <p:ext uri="{D42A27DB-BD31-4B8C-83A1-F6EECF244321}">
                <p14:modId xmlns:p14="http://schemas.microsoft.com/office/powerpoint/2010/main" val="1861410788"/>
              </p:ext>
            </p:extLst>
          </p:nvPr>
        </p:nvGraphicFramePr>
        <p:xfrm>
          <a:off x="2048329" y="2017985"/>
          <a:ext cx="9050596" cy="3162114"/>
        </p:xfrm>
        <a:graphic>
          <a:graphicData uri="http://schemas.openxmlformats.org/drawingml/2006/table">
            <a:tbl>
              <a:tblPr firstRow="1" bandRow="1">
                <a:tableStyleId>{5C22544A-7EE6-4342-B048-85BDC9FD1C3A}</a:tableStyleId>
              </a:tblPr>
              <a:tblGrid>
                <a:gridCol w="4525298">
                  <a:extLst>
                    <a:ext uri="{9D8B030D-6E8A-4147-A177-3AD203B41FA5}">
                      <a16:colId xmlns:a16="http://schemas.microsoft.com/office/drawing/2014/main" val="1081737077"/>
                    </a:ext>
                  </a:extLst>
                </a:gridCol>
                <a:gridCol w="4525298">
                  <a:extLst>
                    <a:ext uri="{9D8B030D-6E8A-4147-A177-3AD203B41FA5}">
                      <a16:colId xmlns:a16="http://schemas.microsoft.com/office/drawing/2014/main" val="1644948771"/>
                    </a:ext>
                  </a:extLst>
                </a:gridCol>
              </a:tblGrid>
              <a:tr h="527019">
                <a:tc>
                  <a:txBody>
                    <a:bodyPr/>
                    <a:lstStyle/>
                    <a:p>
                      <a:r>
                        <a:rPr lang="en-US" sz="2000" dirty="0" smtClean="0">
                          <a:solidFill>
                            <a:schemeClr val="tx1"/>
                          </a:solidFill>
                          <a:latin typeface="Times New Roman" panose="02020603050405020304" pitchFamily="18" charset="0"/>
                          <a:cs typeface="Times New Roman" panose="02020603050405020304" pitchFamily="18" charset="0"/>
                        </a:rPr>
                        <a:t>COMPONENT</a:t>
                      </a:r>
                      <a:endParaRPr lang="en-US" sz="20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2000" dirty="0" smtClean="0">
                          <a:solidFill>
                            <a:schemeClr val="tx1"/>
                          </a:solidFill>
                          <a:latin typeface="Times New Roman" panose="02020603050405020304" pitchFamily="18" charset="0"/>
                          <a:cs typeface="Times New Roman" panose="02020603050405020304" pitchFamily="18" charset="0"/>
                        </a:rPr>
                        <a:t>SPECIFICATIONS</a:t>
                      </a:r>
                      <a:endParaRPr lang="en-US" sz="20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64016130"/>
                  </a:ext>
                </a:extLst>
              </a:tr>
              <a:tr h="527019">
                <a:tc>
                  <a:txBody>
                    <a:bodyPr/>
                    <a:lstStyle/>
                    <a:p>
                      <a:r>
                        <a:rPr lang="en-US" sz="2000" dirty="0" smtClean="0">
                          <a:solidFill>
                            <a:schemeClr val="tx1"/>
                          </a:solidFill>
                          <a:latin typeface="Times New Roman" panose="02020603050405020304" pitchFamily="18" charset="0"/>
                          <a:cs typeface="Times New Roman" panose="02020603050405020304" pitchFamily="18" charset="0"/>
                        </a:rPr>
                        <a:t>Operating System</a:t>
                      </a:r>
                    </a:p>
                  </a:txBody>
                  <a:tcPr/>
                </a:tc>
                <a:tc>
                  <a:txBody>
                    <a:bodyPr/>
                    <a:lstStyle/>
                    <a:p>
                      <a:r>
                        <a:rPr lang="en-US" sz="2000" dirty="0" smtClean="0">
                          <a:solidFill>
                            <a:schemeClr val="tx1"/>
                          </a:solidFill>
                          <a:latin typeface="Times New Roman" panose="02020603050405020304" pitchFamily="18" charset="0"/>
                          <a:cs typeface="Times New Roman" panose="02020603050405020304" pitchFamily="18" charset="0"/>
                        </a:rPr>
                        <a:t>Arch Linux</a:t>
                      </a:r>
                      <a:endParaRPr lang="en-US" sz="20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16458184"/>
                  </a:ext>
                </a:extLst>
              </a:tr>
              <a:tr h="527019">
                <a:tc>
                  <a:txBody>
                    <a:bodyPr/>
                    <a:lstStyle/>
                    <a:p>
                      <a:r>
                        <a:rPr lang="en-US" sz="2000" dirty="0" smtClean="0">
                          <a:solidFill>
                            <a:schemeClr val="tx1"/>
                          </a:solidFill>
                          <a:latin typeface="Times New Roman" panose="02020603050405020304" pitchFamily="18" charset="0"/>
                          <a:cs typeface="Times New Roman" panose="02020603050405020304" pitchFamily="18" charset="0"/>
                        </a:rPr>
                        <a:t>Technology</a:t>
                      </a:r>
                      <a:endParaRPr lang="en-US" sz="20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2000" dirty="0" err="1" smtClean="0">
                          <a:solidFill>
                            <a:schemeClr val="tx1"/>
                          </a:solidFill>
                          <a:latin typeface="Times New Roman" panose="02020603050405020304" pitchFamily="18" charset="0"/>
                          <a:cs typeface="Times New Roman" panose="02020603050405020304" pitchFamily="18" charset="0"/>
                        </a:rPr>
                        <a:t>ZStd</a:t>
                      </a:r>
                      <a:endParaRPr lang="en-US" sz="20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74198593"/>
                  </a:ext>
                </a:extLst>
              </a:tr>
              <a:tr h="527019">
                <a:tc>
                  <a:txBody>
                    <a:bodyPr/>
                    <a:lstStyle/>
                    <a:p>
                      <a:r>
                        <a:rPr lang="en-US" sz="2000" dirty="0" smtClean="0">
                          <a:solidFill>
                            <a:schemeClr val="tx1"/>
                          </a:solidFill>
                          <a:latin typeface="Times New Roman" panose="02020603050405020304" pitchFamily="18" charset="0"/>
                          <a:cs typeface="Times New Roman" panose="02020603050405020304" pitchFamily="18" charset="0"/>
                        </a:rPr>
                        <a:t>Tool</a:t>
                      </a:r>
                      <a:endParaRPr lang="en-US" sz="20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2000" dirty="0" smtClean="0">
                          <a:solidFill>
                            <a:schemeClr val="tx1"/>
                          </a:solidFill>
                          <a:latin typeface="Times New Roman" panose="02020603050405020304" pitchFamily="18" charset="0"/>
                          <a:cs typeface="Times New Roman" panose="02020603050405020304" pitchFamily="18" charset="0"/>
                        </a:rPr>
                        <a:t>Rust</a:t>
                      </a:r>
                      <a:r>
                        <a:rPr lang="en-US" sz="2000" baseline="0" dirty="0" smtClean="0">
                          <a:solidFill>
                            <a:schemeClr val="tx1"/>
                          </a:solidFill>
                          <a:latin typeface="Times New Roman" panose="02020603050405020304" pitchFamily="18" charset="0"/>
                          <a:cs typeface="Times New Roman" panose="02020603050405020304" pitchFamily="18" charset="0"/>
                        </a:rPr>
                        <a:t> for programming</a:t>
                      </a:r>
                      <a:endParaRPr lang="en-US" sz="20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33719277"/>
                  </a:ext>
                </a:extLst>
              </a:tr>
              <a:tr h="527019">
                <a:tc>
                  <a:txBody>
                    <a:bodyPr/>
                    <a:lstStyle/>
                    <a:p>
                      <a:r>
                        <a:rPr lang="en-US" sz="2000" dirty="0" smtClean="0">
                          <a:solidFill>
                            <a:schemeClr val="tx1"/>
                          </a:solidFill>
                          <a:latin typeface="Times New Roman" panose="02020603050405020304" pitchFamily="18" charset="0"/>
                          <a:cs typeface="Times New Roman" panose="02020603050405020304" pitchFamily="18" charset="0"/>
                        </a:rPr>
                        <a:t>Processor</a:t>
                      </a:r>
                      <a:endParaRPr lang="en-US" sz="20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2000" dirty="0" smtClean="0">
                          <a:solidFill>
                            <a:schemeClr val="tx1"/>
                          </a:solidFill>
                          <a:latin typeface="Times New Roman" panose="02020603050405020304" pitchFamily="18" charset="0"/>
                          <a:cs typeface="Times New Roman" panose="02020603050405020304" pitchFamily="18" charset="0"/>
                        </a:rPr>
                        <a:t>Intel 13</a:t>
                      </a:r>
                      <a:r>
                        <a:rPr lang="en-US" sz="2000" baseline="30000" dirty="0" smtClean="0">
                          <a:solidFill>
                            <a:schemeClr val="tx1"/>
                          </a:solidFill>
                          <a:latin typeface="Times New Roman" panose="02020603050405020304" pitchFamily="18" charset="0"/>
                          <a:cs typeface="Times New Roman" panose="02020603050405020304" pitchFamily="18" charset="0"/>
                        </a:rPr>
                        <a:t>th</a:t>
                      </a:r>
                      <a:r>
                        <a:rPr lang="en-US" sz="2000" dirty="0" smtClean="0">
                          <a:solidFill>
                            <a:schemeClr val="tx1"/>
                          </a:solidFill>
                          <a:latin typeface="Times New Roman" panose="02020603050405020304" pitchFamily="18" charset="0"/>
                          <a:cs typeface="Times New Roman" panose="02020603050405020304" pitchFamily="18" charset="0"/>
                        </a:rPr>
                        <a:t> Gen Ultra 9</a:t>
                      </a:r>
                      <a:endParaRPr lang="en-US" sz="20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9012725"/>
                  </a:ext>
                </a:extLst>
              </a:tr>
              <a:tr h="527019">
                <a:tc>
                  <a:txBody>
                    <a:bodyPr/>
                    <a:lstStyle/>
                    <a:p>
                      <a:r>
                        <a:rPr lang="en-US" sz="2000" dirty="0" smtClean="0">
                          <a:solidFill>
                            <a:schemeClr val="tx1"/>
                          </a:solidFill>
                          <a:latin typeface="Times New Roman" panose="02020603050405020304" pitchFamily="18" charset="0"/>
                          <a:cs typeface="Times New Roman" panose="02020603050405020304" pitchFamily="18" charset="0"/>
                        </a:rPr>
                        <a:t>Memory</a:t>
                      </a:r>
                      <a:endParaRPr lang="en-US" sz="20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2000" dirty="0" smtClean="0">
                          <a:solidFill>
                            <a:schemeClr val="tx1"/>
                          </a:solidFill>
                          <a:latin typeface="Times New Roman" panose="02020603050405020304" pitchFamily="18" charset="0"/>
                          <a:cs typeface="Times New Roman" panose="02020603050405020304" pitchFamily="18" charset="0"/>
                        </a:rPr>
                        <a:t>32 GB</a:t>
                      </a:r>
                      <a:r>
                        <a:rPr lang="en-US" sz="2000" baseline="0" dirty="0" smtClean="0">
                          <a:solidFill>
                            <a:schemeClr val="tx1"/>
                          </a:solidFill>
                          <a:latin typeface="Times New Roman" panose="02020603050405020304" pitchFamily="18" charset="0"/>
                          <a:cs typeface="Times New Roman" panose="02020603050405020304" pitchFamily="18" charset="0"/>
                        </a:rPr>
                        <a:t> DDR5</a:t>
                      </a:r>
                      <a:endParaRPr lang="en-US" sz="20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61115068"/>
                  </a:ext>
                </a:extLst>
              </a:tr>
            </a:tbl>
          </a:graphicData>
        </a:graphic>
      </p:graphicFrame>
    </p:spTree>
    <p:extLst>
      <p:ext uri="{BB962C8B-B14F-4D97-AF65-F5344CB8AC3E}">
        <p14:creationId xmlns:p14="http://schemas.microsoft.com/office/powerpoint/2010/main" val="190816516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7002" y="668177"/>
            <a:ext cx="8911687" cy="767810"/>
          </a:xfrm>
        </p:spPr>
        <p:txBody>
          <a:bodyPr/>
          <a:lstStyle/>
          <a:p>
            <a:r>
              <a:rPr lang="en-US" b="1" dirty="0" smtClean="0">
                <a:latin typeface="Times New Roman" panose="02020603050405020304" pitchFamily="18" charset="0"/>
                <a:cs typeface="Times New Roman" panose="02020603050405020304" pitchFamily="18" charset="0"/>
              </a:rPr>
              <a:t>      MATHEMATICAL MODEL</a:t>
            </a:r>
            <a:endParaRPr lang="en-US" b="1"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21176" y="1273247"/>
            <a:ext cx="9276202" cy="5575473"/>
          </a:xfrm>
        </p:spPr>
      </p:pic>
    </p:spTree>
    <p:extLst>
      <p:ext uri="{BB962C8B-B14F-4D97-AF65-F5344CB8AC3E}">
        <p14:creationId xmlns:p14="http://schemas.microsoft.com/office/powerpoint/2010/main" val="9635518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OUTPUT</a:t>
            </a:r>
            <a:endParaRPr lang="en-US" b="1"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9827" y="1377108"/>
            <a:ext cx="11377542" cy="5398265"/>
          </a:xfrm>
        </p:spPr>
      </p:pic>
    </p:spTree>
    <p:extLst>
      <p:ext uri="{BB962C8B-B14F-4D97-AF65-F5344CB8AC3E}">
        <p14:creationId xmlns:p14="http://schemas.microsoft.com/office/powerpoint/2010/main" val="32776366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CONCLUSION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Efficient Lossless File Systems (ELFS) are crucial for modern data management, ensuring data integrity while optimizing storage and performance</a:t>
            </a:r>
            <a:r>
              <a:rPr lang="en-US" sz="2000" dirty="0" smtClean="0">
                <a:latin typeface="Times New Roman" panose="02020603050405020304" pitchFamily="18" charset="0"/>
                <a:cs typeface="Times New Roman" panose="02020603050405020304" pitchFamily="18" charset="0"/>
              </a:rPr>
              <a:t>.</a:t>
            </a:r>
          </a:p>
          <a:p>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By providing reliable, scalable, and adaptable solutions, ELFS address the growing demands of data-intensive applications. </a:t>
            </a:r>
          </a:p>
          <a:p>
            <a:r>
              <a:rPr lang="en-US" sz="2000" dirty="0" smtClean="0">
                <a:latin typeface="Times New Roman" panose="02020603050405020304" pitchFamily="18" charset="0"/>
                <a:cs typeface="Times New Roman" panose="02020603050405020304" pitchFamily="18" charset="0"/>
              </a:rPr>
              <a:t>Their </a:t>
            </a:r>
            <a:r>
              <a:rPr lang="en-US" sz="2000" dirty="0">
                <a:latin typeface="Times New Roman" panose="02020603050405020304" pitchFamily="18" charset="0"/>
                <a:cs typeface="Times New Roman" panose="02020603050405020304" pitchFamily="18" charset="0"/>
              </a:rPr>
              <a:t>ability to efficiently compress and organize data not only reduces storage costs but also enhances user experience.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Overall</a:t>
            </a:r>
            <a:r>
              <a:rPr lang="en-US" sz="2000" dirty="0">
                <a:latin typeface="Times New Roman" panose="02020603050405020304" pitchFamily="18" charset="0"/>
                <a:cs typeface="Times New Roman" panose="02020603050405020304" pitchFamily="18" charset="0"/>
              </a:rPr>
              <a:t>, ELFS play a vital role in maintaining the reliability and accessibility of digital information in today's fast-paced technological landscape.</a:t>
            </a:r>
          </a:p>
        </p:txBody>
      </p:sp>
    </p:spTree>
    <p:extLst>
      <p:ext uri="{BB962C8B-B14F-4D97-AF65-F5344CB8AC3E}">
        <p14:creationId xmlns:p14="http://schemas.microsoft.com/office/powerpoint/2010/main" val="29243126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4364" y="624110"/>
            <a:ext cx="8911687" cy="1280890"/>
          </a:xfrm>
        </p:spPr>
        <p:txBody>
          <a:bodyPr/>
          <a:lstStyle/>
          <a:p>
            <a:r>
              <a:rPr lang="en-US" b="1" dirty="0" smtClean="0">
                <a:latin typeface="Times New Roman" panose="02020603050405020304" pitchFamily="18" charset="0"/>
                <a:cs typeface="Times New Roman" panose="02020603050405020304" pitchFamily="18" charset="0"/>
              </a:rPr>
              <a:t>SCOPE</a:t>
            </a:r>
            <a:endParaRPr lang="en-US" b="1"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1828613" y="1938182"/>
            <a:ext cx="10170605" cy="2241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defTabSz="914400" eaLnBrk="0" fontAlgn="base" hangingPunct="0">
              <a:lnSpc>
                <a:spcPct val="150000"/>
              </a:lnSpc>
              <a:spcBef>
                <a:spcPct val="0"/>
              </a:spcBef>
              <a:spcAft>
                <a:spcPct val="0"/>
              </a:spcAft>
              <a:buClrTx/>
              <a:buFont typeface="Wingdings" panose="05000000000000000000" pitchFamily="2" charset="2"/>
              <a:buChar char="Ø"/>
            </a:pPr>
            <a:r>
              <a:rPr lang="en-US" sz="2400" dirty="0" smtClean="0">
                <a:solidFill>
                  <a:schemeClr val="tx1"/>
                </a:solidFill>
                <a:latin typeface="Times New Roman" panose="02020603050405020304" pitchFamily="18" charset="0"/>
                <a:cs typeface="Times New Roman" panose="02020603050405020304" pitchFamily="18" charset="0"/>
              </a:rPr>
              <a:t>Implementing </a:t>
            </a:r>
            <a:r>
              <a:rPr lang="en-US" sz="2400" dirty="0">
                <a:solidFill>
                  <a:schemeClr val="tx1"/>
                </a:solidFill>
                <a:latin typeface="Times New Roman" panose="02020603050405020304" pitchFamily="18" charset="0"/>
                <a:cs typeface="Times New Roman" panose="02020603050405020304" pitchFamily="18" charset="0"/>
              </a:rPr>
              <a:t>highly compressed writable </a:t>
            </a:r>
            <a:r>
              <a:rPr lang="en-US" sz="2400" dirty="0" err="1">
                <a:solidFill>
                  <a:schemeClr val="tx1"/>
                </a:solidFill>
                <a:latin typeface="Times New Roman" panose="02020603050405020304" pitchFamily="18" charset="0"/>
                <a:cs typeface="Times New Roman" panose="02020603050405020304" pitchFamily="18" charset="0"/>
              </a:rPr>
              <a:t>filesystem</a:t>
            </a:r>
            <a:r>
              <a:rPr lang="en-US" sz="2400" dirty="0">
                <a:solidFill>
                  <a:schemeClr val="tx1"/>
                </a:solidFill>
                <a:latin typeface="Times New Roman" panose="02020603050405020304" pitchFamily="18" charset="0"/>
                <a:cs typeface="Times New Roman" panose="02020603050405020304" pitchFamily="18" charset="0"/>
              </a:rPr>
              <a:t>. </a:t>
            </a:r>
            <a:endParaRPr kumimoji="0" lang="en-US" altLang="en-US" sz="24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lvl="0" defTabSz="914400" eaLnBrk="0" fontAlgn="base" hangingPunct="0">
              <a:lnSpc>
                <a:spcPct val="150000"/>
              </a:lnSpc>
              <a:spcBef>
                <a:spcPct val="0"/>
              </a:spcBef>
              <a:spcAft>
                <a:spcPct val="0"/>
              </a:spcAft>
              <a:buClrTx/>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Data </a:t>
            </a:r>
            <a:r>
              <a:rPr lang="en-US" sz="2400" dirty="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ntegrity ensures that stored data can be retrieved accurately and reliably.</a:t>
            </a:r>
          </a:p>
          <a:p>
            <a:pPr lvl="0" defTabSz="914400" eaLnBrk="0" fontAlgn="base" hangingPunct="0">
              <a:lnSpc>
                <a:spcPct val="150000"/>
              </a:lnSpc>
              <a:spcBef>
                <a:spcPct val="0"/>
              </a:spcBef>
              <a:spcAft>
                <a:spcPct val="0"/>
              </a:spcAft>
              <a:buClrTx/>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Provide </a:t>
            </a:r>
            <a:r>
              <a:rPr lang="en-US" sz="2400" dirty="0">
                <a:latin typeface="Times New Roman" panose="02020603050405020304" pitchFamily="18" charset="0"/>
                <a:cs typeface="Times New Roman" panose="02020603050405020304" pitchFamily="18" charset="0"/>
              </a:rPr>
              <a:t>fast data access and </a:t>
            </a:r>
            <a:r>
              <a:rPr lang="en-US" sz="2400" dirty="0" smtClean="0">
                <a:latin typeface="Times New Roman" panose="02020603050405020304" pitchFamily="18" charset="0"/>
                <a:cs typeface="Times New Roman" panose="02020603050405020304" pitchFamily="18" charset="0"/>
              </a:rPr>
              <a:t>retrieval.</a:t>
            </a:r>
          </a:p>
          <a:p>
            <a:pPr lvl="0" defTabSz="914400" eaLnBrk="0" fontAlgn="base" hangingPunct="0">
              <a:lnSpc>
                <a:spcPct val="150000"/>
              </a:lnSpc>
              <a:spcBef>
                <a:spcPct val="0"/>
              </a:spcBef>
              <a:spcAft>
                <a:spcPct val="0"/>
              </a:spcAft>
              <a:buClrTx/>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Cold and hot storage pots for file </a:t>
            </a:r>
            <a:r>
              <a:rPr lang="en-US" sz="2400" dirty="0" err="1">
                <a:solidFill>
                  <a:schemeClr val="tx1"/>
                </a:solidFill>
                <a:latin typeface="Times New Roman" panose="02020603050405020304" pitchFamily="18" charset="0"/>
                <a:cs typeface="Times New Roman" panose="02020603050405020304" pitchFamily="18" charset="0"/>
              </a:rPr>
              <a:t>io</a:t>
            </a:r>
            <a:r>
              <a:rPr lang="en-US" sz="2400" dirty="0">
                <a:solidFill>
                  <a:schemeClr val="tx1"/>
                </a:solidFill>
                <a:latin typeface="Times New Roman" panose="02020603050405020304" pitchFamily="18" charset="0"/>
                <a:cs typeface="Times New Roman" panose="02020603050405020304" pitchFamily="18" charset="0"/>
              </a:rPr>
              <a:t> operations.</a:t>
            </a:r>
            <a:endParaRPr kumimoji="0" lang="en-US" altLang="en-US" sz="24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127140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8692" y="624110"/>
            <a:ext cx="8911687" cy="998213"/>
          </a:xfrm>
        </p:spPr>
        <p:txBody>
          <a:bodyPr/>
          <a:lstStyle/>
          <a:p>
            <a:r>
              <a:rPr lang="en-US" b="1" dirty="0" smtClean="0">
                <a:latin typeface="Times New Roman" panose="02020603050405020304" pitchFamily="18" charset="0"/>
                <a:cs typeface="Times New Roman" panose="02020603050405020304" pitchFamily="18" charset="0"/>
              </a:rPr>
              <a:t>REFERENCE</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668692" y="1769806"/>
            <a:ext cx="10246217" cy="5088194"/>
          </a:xfrm>
        </p:spPr>
        <p:txBody>
          <a:bodyPr>
            <a:noAutofit/>
          </a:bodyPr>
          <a:lstStyle/>
          <a:p>
            <a:r>
              <a:rPr lang="en-US" dirty="0" smtClean="0">
                <a:solidFill>
                  <a:schemeClr val="tx1"/>
                </a:solidFill>
                <a:latin typeface="Times New Roman" panose="02020603050405020304" pitchFamily="18" charset="0"/>
                <a:cs typeface="Times New Roman" panose="02020603050405020304" pitchFamily="18" charset="0"/>
              </a:rPr>
              <a:t>L</a:t>
            </a:r>
            <a:r>
              <a:rPr lang="en-US" dirty="0">
                <a:solidFill>
                  <a:schemeClr val="tx1"/>
                </a:solidFill>
                <a:latin typeface="Times New Roman" panose="02020603050405020304" pitchFamily="18" charset="0"/>
                <a:cs typeface="Times New Roman" panose="02020603050405020304" pitchFamily="18" charset="0"/>
              </a:rPr>
              <a:t>. A. González, G. J. Bishop-Hurley, R. N. Handcock, and C. Crossman, "Behavioral classification of data from collars containing motion sensors in grazing cattle," Compute. Electron. Agric., no. 110, pp. 91-102, </a:t>
            </a:r>
            <a:r>
              <a:rPr lang="en-US" dirty="0" smtClean="0">
                <a:solidFill>
                  <a:schemeClr val="tx1"/>
                </a:solidFill>
                <a:latin typeface="Times New Roman" panose="02020603050405020304" pitchFamily="18" charset="0"/>
                <a:cs typeface="Times New Roman" panose="02020603050405020304" pitchFamily="18" charset="0"/>
              </a:rPr>
              <a:t>2015.</a:t>
            </a:r>
          </a:p>
          <a:p>
            <a:r>
              <a:rPr lang="en-US" dirty="0">
                <a:solidFill>
                  <a:schemeClr val="tx1"/>
                </a:solidFill>
                <a:latin typeface="Times New Roman" panose="02020603050405020304" pitchFamily="18" charset="0"/>
                <a:cs typeface="Times New Roman" panose="02020603050405020304" pitchFamily="18" charset="0"/>
              </a:rPr>
              <a:t>BENAVIDES, T., TREON, J., HULBERT, J., AND CHANG, W. The enabling of an Execute-In-Place architecture to reduce the embedded system memory footprint and boot time. JCP 3, 1 (2008), </a:t>
            </a:r>
            <a:r>
              <a:rPr lang="en-US" dirty="0" smtClean="0">
                <a:solidFill>
                  <a:schemeClr val="tx1"/>
                </a:solidFill>
                <a:latin typeface="Times New Roman" panose="02020603050405020304" pitchFamily="18" charset="0"/>
                <a:cs typeface="Times New Roman" panose="02020603050405020304" pitchFamily="18" charset="0"/>
              </a:rPr>
              <a:t>79-89.</a:t>
            </a:r>
          </a:p>
          <a:p>
            <a:r>
              <a:rPr lang="en-US" dirty="0">
                <a:solidFill>
                  <a:schemeClr val="tx1"/>
                </a:solidFill>
                <a:latin typeface="Times New Roman" panose="02020603050405020304" pitchFamily="18" charset="0"/>
                <a:cs typeface="Times New Roman" panose="02020603050405020304" pitchFamily="18" charset="0"/>
              </a:rPr>
              <a:t>Frank Schmuck and Roger Haskin. GPFS: A shared-disk file system for large computing clusters. In Proceedings of the First USENIX Conference on File and Storage Technologies, pages 231-244, Monterey, California, January 2002</a:t>
            </a:r>
            <a:r>
              <a:rPr lang="en-US" dirty="0" smtClean="0">
                <a:solidFill>
                  <a:schemeClr val="tx1"/>
                </a:solidFill>
                <a:latin typeface="Times New Roman" panose="02020603050405020304" pitchFamily="18" charset="0"/>
                <a:cs typeface="Times New Roman" panose="02020603050405020304" pitchFamily="18" charset="0"/>
              </a:rPr>
              <a:t>.</a:t>
            </a:r>
          </a:p>
          <a:p>
            <a:r>
              <a:rPr lang="en-US" dirty="0">
                <a:solidFill>
                  <a:schemeClr val="tx1"/>
                </a:solidFill>
                <a:latin typeface="Times New Roman" panose="02020603050405020304" pitchFamily="18" charset="0"/>
                <a:cs typeface="Times New Roman" panose="02020603050405020304" pitchFamily="18" charset="0"/>
              </a:rPr>
              <a:t>Sanjay </a:t>
            </a:r>
            <a:r>
              <a:rPr lang="en-US" dirty="0" err="1">
                <a:solidFill>
                  <a:schemeClr val="tx1"/>
                </a:solidFill>
                <a:latin typeface="Times New Roman" panose="02020603050405020304" pitchFamily="18" charset="0"/>
                <a:cs typeface="Times New Roman" panose="02020603050405020304" pitchFamily="18" charset="0"/>
              </a:rPr>
              <a:t>Ghemawat</a:t>
            </a:r>
            <a:r>
              <a:rPr lang="en-US" dirty="0">
                <a:solidFill>
                  <a:schemeClr val="tx1"/>
                </a:solidFill>
                <a:latin typeface="Times New Roman" panose="02020603050405020304" pitchFamily="18" charset="0"/>
                <a:cs typeface="Times New Roman" panose="02020603050405020304" pitchFamily="18" charset="0"/>
              </a:rPr>
              <a:t>, Howard </a:t>
            </a:r>
            <a:r>
              <a:rPr lang="en-US" dirty="0" err="1">
                <a:solidFill>
                  <a:schemeClr val="tx1"/>
                </a:solidFill>
                <a:latin typeface="Times New Roman" panose="02020603050405020304" pitchFamily="18" charset="0"/>
                <a:cs typeface="Times New Roman" panose="02020603050405020304" pitchFamily="18" charset="0"/>
              </a:rPr>
              <a:t>Gobioff</a:t>
            </a:r>
            <a:r>
              <a:rPr lang="en-US" dirty="0">
                <a:solidFill>
                  <a:schemeClr val="tx1"/>
                </a:solidFill>
                <a:latin typeface="Times New Roman" panose="02020603050405020304" pitchFamily="18" charset="0"/>
                <a:cs typeface="Times New Roman" panose="02020603050405020304" pitchFamily="18" charset="0"/>
              </a:rPr>
              <a:t>, and Shun-</a:t>
            </a:r>
            <a:r>
              <a:rPr lang="en-US" dirty="0" err="1">
                <a:solidFill>
                  <a:schemeClr val="tx1"/>
                </a:solidFill>
                <a:latin typeface="Times New Roman" panose="02020603050405020304" pitchFamily="18" charset="0"/>
                <a:cs typeface="Times New Roman" panose="02020603050405020304" pitchFamily="18" charset="0"/>
              </a:rPr>
              <a:t>Tak</a:t>
            </a:r>
            <a:r>
              <a:rPr lang="en-US" dirty="0">
                <a:solidFill>
                  <a:schemeClr val="tx1"/>
                </a:solidFill>
                <a:latin typeface="Times New Roman" panose="02020603050405020304" pitchFamily="18" charset="0"/>
                <a:cs typeface="Times New Roman" panose="02020603050405020304" pitchFamily="18" charset="0"/>
              </a:rPr>
              <a:t> Leung Google,” The Google File </a:t>
            </a:r>
            <a:r>
              <a:rPr lang="en-US" dirty="0" smtClean="0">
                <a:solidFill>
                  <a:schemeClr val="tx1"/>
                </a:solidFill>
                <a:latin typeface="Times New Roman" panose="02020603050405020304" pitchFamily="18" charset="0"/>
                <a:cs typeface="Times New Roman" panose="02020603050405020304" pitchFamily="18" charset="0"/>
              </a:rPr>
              <a:t>System”.</a:t>
            </a:r>
          </a:p>
          <a:p>
            <a:r>
              <a:rPr lang="en-US" dirty="0">
                <a:solidFill>
                  <a:schemeClr val="tx1"/>
                </a:solidFill>
                <a:latin typeface="Times New Roman" panose="02020603050405020304" pitchFamily="18" charset="0"/>
                <a:cs typeface="Times New Roman" panose="02020603050405020304" pitchFamily="18" charset="0"/>
              </a:rPr>
              <a:t>Xiang Gao1, </a:t>
            </a:r>
            <a:r>
              <a:rPr lang="en-US" dirty="0" err="1">
                <a:solidFill>
                  <a:schemeClr val="tx1"/>
                </a:solidFill>
                <a:latin typeface="Times New Roman" panose="02020603050405020304" pitchFamily="18" charset="0"/>
                <a:cs typeface="Times New Roman" panose="02020603050405020304" pitchFamily="18" charset="0"/>
              </a:rPr>
              <a:t>Mingkai</a:t>
            </a:r>
            <a:r>
              <a:rPr lang="en-US" dirty="0">
                <a:solidFill>
                  <a:schemeClr val="tx1"/>
                </a:solidFill>
                <a:latin typeface="Times New Roman" panose="02020603050405020304" pitchFamily="18" charset="0"/>
                <a:cs typeface="Times New Roman" panose="02020603050405020304" pitchFamily="18" charset="0"/>
              </a:rPr>
              <a:t> Dong2, </a:t>
            </a:r>
            <a:r>
              <a:rPr lang="en-US" dirty="0" err="1">
                <a:solidFill>
                  <a:schemeClr val="tx1"/>
                </a:solidFill>
                <a:latin typeface="Times New Roman" panose="02020603050405020304" pitchFamily="18" charset="0"/>
                <a:cs typeface="Times New Roman" panose="02020603050405020304" pitchFamily="18" charset="0"/>
              </a:rPr>
              <a:t>Xie</a:t>
            </a:r>
            <a:r>
              <a:rPr lang="en-US" dirty="0">
                <a:solidFill>
                  <a:schemeClr val="tx1"/>
                </a:solidFill>
                <a:latin typeface="Times New Roman" panose="02020603050405020304" pitchFamily="18" charset="0"/>
                <a:cs typeface="Times New Roman" panose="02020603050405020304" pitchFamily="18" charset="0"/>
              </a:rPr>
              <a:t> Miao1, Wei Du1, Chao Yu1, and </a:t>
            </a:r>
            <a:r>
              <a:rPr lang="en-US" dirty="0" err="1">
                <a:solidFill>
                  <a:schemeClr val="tx1"/>
                </a:solidFill>
                <a:latin typeface="Times New Roman" panose="02020603050405020304" pitchFamily="18" charset="0"/>
                <a:cs typeface="Times New Roman" panose="02020603050405020304" pitchFamily="18" charset="0"/>
              </a:rPr>
              <a:t>Haibo</a:t>
            </a:r>
            <a:r>
              <a:rPr lang="en-US" dirty="0">
                <a:solidFill>
                  <a:schemeClr val="tx1"/>
                </a:solidFill>
                <a:latin typeface="Times New Roman" panose="02020603050405020304" pitchFamily="18" charset="0"/>
                <a:cs typeface="Times New Roman" panose="02020603050405020304" pitchFamily="18" charset="0"/>
              </a:rPr>
              <a:t> Chen2,1 1Huawei Technologies Co., Ltd. 2Shanghai Jiao Tong University,” EROFS: A Compression-friendly </a:t>
            </a:r>
            <a:r>
              <a:rPr lang="en-US" dirty="0" err="1">
                <a:solidFill>
                  <a:schemeClr val="tx1"/>
                </a:solidFill>
                <a:latin typeface="Times New Roman" panose="02020603050405020304" pitchFamily="18" charset="0"/>
                <a:cs typeface="Times New Roman" panose="02020603050405020304" pitchFamily="18" charset="0"/>
              </a:rPr>
              <a:t>Readonly</a:t>
            </a:r>
            <a:r>
              <a:rPr lang="en-US" dirty="0">
                <a:solidFill>
                  <a:schemeClr val="tx1"/>
                </a:solidFill>
                <a:latin typeface="Times New Roman" panose="02020603050405020304" pitchFamily="18" charset="0"/>
                <a:cs typeface="Times New Roman" panose="02020603050405020304" pitchFamily="18" charset="0"/>
              </a:rPr>
              <a:t> File System for Resource-scarce </a:t>
            </a:r>
            <a:r>
              <a:rPr lang="en-US" dirty="0" smtClean="0">
                <a:solidFill>
                  <a:schemeClr val="tx1"/>
                </a:solidFill>
                <a:latin typeface="Times New Roman" panose="02020603050405020304" pitchFamily="18" charset="0"/>
                <a:cs typeface="Times New Roman" panose="02020603050405020304" pitchFamily="18" charset="0"/>
              </a:rPr>
              <a:t>Devices”.</a:t>
            </a:r>
          </a:p>
          <a:p>
            <a:r>
              <a:rPr lang="en-US" dirty="0" err="1">
                <a:solidFill>
                  <a:schemeClr val="tx1"/>
                </a:solidFill>
                <a:latin typeface="Times New Roman" panose="02020603050405020304" pitchFamily="18" charset="0"/>
                <a:cs typeface="Times New Roman" panose="02020603050405020304" pitchFamily="18" charset="0"/>
              </a:rPr>
              <a:t>Ohad</a:t>
            </a:r>
            <a:r>
              <a:rPr lang="en-US" dirty="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Rodeh</a:t>
            </a:r>
            <a:r>
              <a:rPr lang="en-US" dirty="0" smtClean="0">
                <a:solidFill>
                  <a:schemeClr val="tx1"/>
                </a:solidFill>
                <a:latin typeface="Times New Roman" panose="02020603050405020304" pitchFamily="18" charset="0"/>
                <a:cs typeface="Times New Roman" panose="02020603050405020304" pitchFamily="18" charset="0"/>
              </a:rPr>
              <a:t>, Josef </a:t>
            </a:r>
            <a:r>
              <a:rPr lang="en-US" dirty="0" err="1" smtClean="0">
                <a:solidFill>
                  <a:schemeClr val="tx1"/>
                </a:solidFill>
                <a:latin typeface="Times New Roman" panose="02020603050405020304" pitchFamily="18" charset="0"/>
                <a:cs typeface="Times New Roman" panose="02020603050405020304" pitchFamily="18" charset="0"/>
              </a:rPr>
              <a:t>Bacik</a:t>
            </a:r>
            <a:r>
              <a:rPr lang="en-US" dirty="0">
                <a:solidFill>
                  <a:schemeClr val="tx1"/>
                </a:solidFill>
                <a:latin typeface="Times New Roman" panose="02020603050405020304" pitchFamily="18" charset="0"/>
                <a:cs typeface="Times New Roman" panose="02020603050405020304" pitchFamily="18" charset="0"/>
              </a:rPr>
              <a:t>, Chris Mason </a:t>
            </a:r>
            <a:r>
              <a:rPr lang="en-US" dirty="0" err="1" smtClean="0">
                <a:solidFill>
                  <a:schemeClr val="tx1"/>
                </a:solidFill>
                <a:latin typeface="Times New Roman" panose="02020603050405020304" pitchFamily="18" charset="0"/>
                <a:cs typeface="Times New Roman" panose="02020603050405020304" pitchFamily="18" charset="0"/>
              </a:rPr>
              <a:t>FusionIO</a:t>
            </a:r>
            <a:r>
              <a:rPr lang="en-US" dirty="0">
                <a:solidFill>
                  <a:schemeClr val="tx1"/>
                </a:solidFill>
                <a:latin typeface="Times New Roman" panose="02020603050405020304" pitchFamily="18" charset="0"/>
                <a:cs typeface="Times New Roman" panose="02020603050405020304" pitchFamily="18" charset="0"/>
              </a:rPr>
              <a:t> , </a:t>
            </a:r>
            <a:r>
              <a:rPr lang="en-US" dirty="0" smtClean="0">
                <a:solidFill>
                  <a:schemeClr val="tx1"/>
                </a:solidFill>
                <a:latin typeface="Times New Roman" panose="02020603050405020304" pitchFamily="18" charset="0"/>
                <a:cs typeface="Times New Roman" panose="02020603050405020304" pitchFamily="18" charset="0"/>
              </a:rPr>
              <a:t>IBM Research </a:t>
            </a:r>
            <a:r>
              <a:rPr lang="en-US" dirty="0">
                <a:solidFill>
                  <a:schemeClr val="tx1"/>
                </a:solidFill>
                <a:latin typeface="Times New Roman" panose="02020603050405020304" pitchFamily="18" charset="0"/>
                <a:cs typeface="Times New Roman" panose="02020603050405020304" pitchFamily="18" charset="0"/>
              </a:rPr>
              <a:t>Division </a:t>
            </a:r>
            <a:r>
              <a:rPr lang="en-US" dirty="0" err="1">
                <a:solidFill>
                  <a:schemeClr val="tx1"/>
                </a:solidFill>
                <a:latin typeface="Times New Roman" panose="02020603050405020304" pitchFamily="18" charset="0"/>
                <a:cs typeface="Times New Roman" panose="02020603050405020304" pitchFamily="18" charset="0"/>
              </a:rPr>
              <a:t>Almaden</a:t>
            </a:r>
            <a:r>
              <a:rPr lang="en-US" dirty="0">
                <a:solidFill>
                  <a:schemeClr val="tx1"/>
                </a:solidFill>
                <a:latin typeface="Times New Roman" panose="02020603050405020304" pitchFamily="18" charset="0"/>
                <a:cs typeface="Times New Roman" panose="02020603050405020304" pitchFamily="18" charset="0"/>
              </a:rPr>
              <a:t> Research Center 650 Harry Road San Jose, CA 95120-6099 </a:t>
            </a:r>
            <a:r>
              <a:rPr lang="en-US" dirty="0" smtClean="0">
                <a:solidFill>
                  <a:schemeClr val="tx1"/>
                </a:solidFill>
                <a:latin typeface="Times New Roman" panose="02020603050405020304" pitchFamily="18" charset="0"/>
                <a:cs typeface="Times New Roman" panose="02020603050405020304" pitchFamily="18" charset="0"/>
              </a:rPr>
              <a:t>USA.</a:t>
            </a:r>
          </a:p>
        </p:txBody>
      </p:sp>
    </p:spTree>
    <p:extLst>
      <p:ext uri="{BB962C8B-B14F-4D97-AF65-F5344CB8AC3E}">
        <p14:creationId xmlns:p14="http://schemas.microsoft.com/office/powerpoint/2010/main" val="41328415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Thank You Ppt PowerPoint Presentation Model Elements - PowerPoint Templates">
            <a:extLst>
              <a:ext uri="{FF2B5EF4-FFF2-40B4-BE49-F238E27FC236}">
                <a16:creationId xmlns:a16="http://schemas.microsoft.com/office/drawing/2014/main" id="{3F212DE0-7D97-3D56-B852-21F0CE7161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4605052"/>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20518</TotalTime>
  <Words>876</Words>
  <Application>Microsoft Office PowerPoint</Application>
  <PresentationFormat>Widescreen</PresentationFormat>
  <Paragraphs>113</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Century Gothic</vt:lpstr>
      <vt:lpstr>Times New Roman</vt:lpstr>
      <vt:lpstr>Wingdings</vt:lpstr>
      <vt:lpstr>Wingdings 3</vt:lpstr>
      <vt:lpstr>Wisp</vt:lpstr>
      <vt:lpstr>PowerPoint Presentation</vt:lpstr>
      <vt:lpstr>INDEX</vt:lpstr>
      <vt:lpstr>INTRODUCTION</vt:lpstr>
      <vt:lpstr>LITERATURE SURVEY</vt:lpstr>
      <vt:lpstr>PROBLEM STATMENT</vt:lpstr>
      <vt:lpstr>MOTIVATION &amp; OBJECTIVE</vt:lpstr>
      <vt:lpstr>SYSTEM ARCHITECTURE</vt:lpstr>
      <vt:lpstr>PowerPoint Presentation</vt:lpstr>
      <vt:lpstr>HARDWARE &amp; SOFTWARE REQUIREMENT</vt:lpstr>
      <vt:lpstr>      MATHEMATICAL MODEL</vt:lpstr>
      <vt:lpstr>OUTPUT</vt:lpstr>
      <vt:lpstr>CONCLUSION</vt:lpstr>
      <vt:lpstr>SCOPE</vt:lpstr>
      <vt:lpstr>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81</cp:revision>
  <dcterms:created xsi:type="dcterms:W3CDTF">2023-08-19T07:30:19Z</dcterms:created>
  <dcterms:modified xsi:type="dcterms:W3CDTF">2025-06-09T08:43:17Z</dcterms:modified>
</cp:coreProperties>
</file>